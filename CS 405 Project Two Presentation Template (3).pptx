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embeddedFontLst>
    <p:embeddedFont>
      <p:font typeface="Century Gothic"/>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9" roundtripDataSignature="AMtx7mjU/upop0mBCz/zKBQH3wEWZ+j0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B1B186-2A38-4D3E-9C98-914DEF0C8B1B}">
  <a:tblStyle styleId="{63B1B186-2A38-4D3E-9C98-914DEF0C8B1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enturyGothic-bold.fntdata"/><Relationship Id="rId25" Type="http://schemas.openxmlformats.org/officeDocument/2006/relationships/font" Target="fonts/CenturyGothic-regular.fntdata"/><Relationship Id="rId28" Type="http://schemas.openxmlformats.org/officeDocument/2006/relationships/font" Target="fonts/CenturyGothic-boldItalic.fntdata"/><Relationship Id="rId27" Type="http://schemas.openxmlformats.org/officeDocument/2006/relationships/font" Target="fonts/CenturyGothic-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9504e2950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9504e2950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fbefaed67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efbefaed6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efbefaed67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efbefaed6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fbefaed67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efbefaed6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fbefaed67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efbefaed6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pic>
        <p:nvPicPr>
          <p:cNvPr descr="C0-HD-BTM.png" id="13" name="Google Shape;13;p16"/>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16"/>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6"/>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6"/>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1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5" name="Shape 25"/>
        <p:cNvGrpSpPr/>
        <p:nvPr/>
      </p:nvGrpSpPr>
      <p:grpSpPr>
        <a:xfrm>
          <a:off x="0" y="0"/>
          <a:ext cx="0" cy="0"/>
          <a:chOff x="0" y="0"/>
          <a:chExt cx="0" cy="0"/>
        </a:xfrm>
      </p:grpSpPr>
      <p:pic>
        <p:nvPicPr>
          <p:cNvPr descr="C0-HD-BTM.png" id="26" name="Google Shape;26;p1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27" name="Google Shape;27;p18"/>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9" name="Google Shape;29;p18"/>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 name="Google Shape;35;p19"/>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1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20"/>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2" name="Google Shape;42;p20"/>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20"/>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4" name="Google Shape;44;p20"/>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5" name="Google Shape;45;p2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2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2"/>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23"/>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23"/>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1" name="Google Shape;61;p2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24"/>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p:nvPr>
            <p:ph idx="2" type="pic"/>
          </p:nvPr>
        </p:nvSpPr>
        <p:spPr>
          <a:xfrm>
            <a:off x="7861238" y="751241"/>
            <a:ext cx="3644962" cy="5467443"/>
          </a:xfrm>
          <a:prstGeom prst="rect">
            <a:avLst/>
          </a:prstGeom>
          <a:noFill/>
          <a:ln>
            <a:noFill/>
          </a:ln>
        </p:spPr>
      </p:sp>
      <p:sp>
        <p:nvSpPr>
          <p:cNvPr id="67" name="Google Shape;67;p24"/>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8" name="Google Shape;68;p24"/>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4"/>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sp>
        <p:nvSpPr>
          <p:cNvPr id="72" name="Google Shape;72;p25"/>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p:nvPr>
            <p:ph idx="2" type="pic"/>
          </p:nvPr>
        </p:nvSpPr>
        <p:spPr>
          <a:xfrm>
            <a:off x="681727" y="941439"/>
            <a:ext cx="10821840" cy="3478161"/>
          </a:xfrm>
          <a:prstGeom prst="rect">
            <a:avLst/>
          </a:prstGeom>
          <a:noFill/>
          <a:ln>
            <a:noFill/>
          </a:ln>
        </p:spPr>
      </p:sp>
      <p:sp>
        <p:nvSpPr>
          <p:cNvPr id="74" name="Google Shape;74;p25"/>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5" name="Google Shape;75;p2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78" name="Shape 78"/>
        <p:cNvGrpSpPr/>
        <p:nvPr/>
      </p:nvGrpSpPr>
      <p:grpSpPr>
        <a:xfrm>
          <a:off x="0" y="0"/>
          <a:ext cx="0" cy="0"/>
          <a:chOff x="0" y="0"/>
          <a:chExt cx="0" cy="0"/>
        </a:xfrm>
      </p:grpSpPr>
      <p:pic>
        <p:nvPicPr>
          <p:cNvPr descr="C0-HD-BTM.png" id="79" name="Google Shape;79;p26"/>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0" name="Google Shape;80;p26"/>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26"/>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85" name="Shape 85"/>
        <p:cNvGrpSpPr/>
        <p:nvPr/>
      </p:nvGrpSpPr>
      <p:grpSpPr>
        <a:xfrm>
          <a:off x="0" y="0"/>
          <a:ext cx="0" cy="0"/>
          <a:chOff x="0" y="0"/>
          <a:chExt cx="0" cy="0"/>
        </a:xfrm>
      </p:grpSpPr>
      <p:pic>
        <p:nvPicPr>
          <p:cNvPr descr="C0-HD-BTM.png" id="86" name="Google Shape;86;p27"/>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7" name="Google Shape;87;p27"/>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7"/>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27"/>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 name="Google Shape;90;p27"/>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7"/>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7"/>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95" name="Shape 95"/>
        <p:cNvGrpSpPr/>
        <p:nvPr/>
      </p:nvGrpSpPr>
      <p:grpSpPr>
        <a:xfrm>
          <a:off x="0" y="0"/>
          <a:ext cx="0" cy="0"/>
          <a:chOff x="0" y="0"/>
          <a:chExt cx="0" cy="0"/>
        </a:xfrm>
      </p:grpSpPr>
      <p:pic>
        <p:nvPicPr>
          <p:cNvPr descr="C0-HD-BTM.png" id="96" name="Google Shape;96;p2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7" name="Google Shape;97;p28"/>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8"/>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9" name="Google Shape;99;p28"/>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8"/>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29"/>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9"/>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5" name="Google Shape;105;p29"/>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29"/>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29"/>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29"/>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29"/>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0" name="Google Shape;110;p2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3" name="Shape 113"/>
        <p:cNvGrpSpPr/>
        <p:nvPr/>
      </p:nvGrpSpPr>
      <p:grpSpPr>
        <a:xfrm>
          <a:off x="0" y="0"/>
          <a:ext cx="0" cy="0"/>
          <a:chOff x="0" y="0"/>
          <a:chExt cx="0" cy="0"/>
        </a:xfrm>
      </p:grpSpPr>
      <p:sp>
        <p:nvSpPr>
          <p:cNvPr id="114" name="Google Shape;114;p30"/>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0"/>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6" name="Google Shape;116;p30"/>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1960"/>
              </a:srgbClr>
            </a:outerShdw>
          </a:effectLst>
        </p:spPr>
      </p:sp>
      <p:sp>
        <p:nvSpPr>
          <p:cNvPr id="117" name="Google Shape;117;p30"/>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8" name="Google Shape;118;p30"/>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9" name="Google Shape;119;p30"/>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1960"/>
              </a:srgbClr>
            </a:outerShdw>
          </a:effectLst>
        </p:spPr>
      </p:sp>
      <p:sp>
        <p:nvSpPr>
          <p:cNvPr id="120" name="Google Shape;120;p30"/>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1" name="Google Shape;121;p30"/>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30"/>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1960"/>
              </a:srgbClr>
            </a:outerShdw>
          </a:effectLst>
        </p:spPr>
      </p:sp>
      <p:sp>
        <p:nvSpPr>
          <p:cNvPr id="123" name="Google Shape;123;p30"/>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4" name="Google Shape;124;p3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3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1"/>
          <p:cNvSpPr txBox="1"/>
          <p:nvPr>
            <p:ph idx="1" type="body"/>
          </p:nvPr>
        </p:nvSpPr>
        <p:spPr>
          <a:xfrm rot="5400000">
            <a:off x="4083937"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0" name="Google Shape;130;p3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33" name="Shape 133"/>
        <p:cNvGrpSpPr/>
        <p:nvPr/>
      </p:nvGrpSpPr>
      <p:grpSpPr>
        <a:xfrm>
          <a:off x="0" y="0"/>
          <a:ext cx="0" cy="0"/>
          <a:chOff x="0" y="0"/>
          <a:chExt cx="0" cy="0"/>
        </a:xfrm>
      </p:grpSpPr>
      <p:pic>
        <p:nvPicPr>
          <p:cNvPr descr="C0-HD-BTM.png" id="134" name="Google Shape;134;p3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5" name="Google Shape;135;p32"/>
          <p:cNvSpPr txBox="1"/>
          <p:nvPr>
            <p:ph type="title"/>
          </p:nvPr>
        </p:nvSpPr>
        <p:spPr>
          <a:xfrm rot="5400000">
            <a:off x="8525933"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2"/>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7" name="Google Shape;137;p32"/>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2"/>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2"/>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15"/>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1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1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1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type="ctrTitle"/>
          </p:nvPr>
        </p:nvSpPr>
        <p:spPr>
          <a:xfrm>
            <a:off x="1371600" y="1790153"/>
            <a:ext cx="9448800" cy="18250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p:nvPr>
            <p:ph idx="1" type="subTitle"/>
          </p:nvPr>
        </p:nvSpPr>
        <p:spPr>
          <a:xfrm>
            <a:off x="1371600" y="3632200"/>
            <a:ext cx="9448800" cy="1561592"/>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chemeClr val="lt1"/>
              </a:buClr>
              <a:buSzPts val="1850"/>
              <a:buNone/>
            </a:pPr>
            <a:r>
              <a:rPr lang="en-US" sz="1850"/>
              <a:t>Security Policy Presentation</a:t>
            </a:r>
            <a:endParaRPr/>
          </a:p>
          <a:p>
            <a:pPr indent="0" lvl="0" marL="0" rtl="0" algn="l">
              <a:lnSpc>
                <a:spcPct val="70000"/>
              </a:lnSpc>
              <a:spcBef>
                <a:spcPts val="1000"/>
              </a:spcBef>
              <a:spcAft>
                <a:spcPts val="0"/>
              </a:spcAft>
              <a:buClr>
                <a:schemeClr val="lt1"/>
              </a:buClr>
              <a:buSzPts val="1850"/>
              <a:buNone/>
            </a:pPr>
            <a:r>
              <a:rPr lang="en-US" sz="1850"/>
              <a:t>Developer: </a:t>
            </a:r>
            <a:r>
              <a:rPr i="1" lang="en-US" sz="1850"/>
              <a:t>Najjah Gray-Thompson</a:t>
            </a:r>
            <a:endParaRPr i="1"/>
          </a:p>
        </p:txBody>
      </p:sp>
      <p:pic>
        <p:nvPicPr>
          <p:cNvPr descr="Green Pace logo" id="146" name="Google Shape;146;p1"/>
          <p:cNvPicPr preferRelativeResize="0"/>
          <p:nvPr/>
        </p:nvPicPr>
        <p:blipFill rotWithShape="1">
          <a:blip r:embed="rId3">
            <a:alphaModFix/>
          </a:blip>
          <a:srcRect b="0" l="0" r="0" t="0"/>
          <a:stretch/>
        </p:blipFill>
        <p:spPr>
          <a:xfrm>
            <a:off x="7440774" y="659854"/>
            <a:ext cx="2921424" cy="37867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p:nvPr>
            <p:ph idx="1" type="body"/>
          </p:nvPr>
        </p:nvSpPr>
        <p:spPr>
          <a:xfrm>
            <a:off x="685800" y="2194550"/>
            <a:ext cx="5606100" cy="40242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1000"/>
              </a:spcBef>
              <a:spcAft>
                <a:spcPts val="0"/>
              </a:spcAft>
              <a:buClr>
                <a:schemeClr val="dk1"/>
              </a:buClr>
              <a:buSzPts val="1100"/>
              <a:buFont typeface="Arial"/>
              <a:buNone/>
            </a:pPr>
            <a:r>
              <a:rPr lang="en-US"/>
              <a:t>⦁ Establishes standardized secure coding practices for all Green Pace developers.</a:t>
            </a:r>
            <a:endParaRPr/>
          </a:p>
          <a:p>
            <a:pPr indent="0" lvl="0" marL="0" rtl="0" algn="l">
              <a:spcBef>
                <a:spcPts val="1000"/>
              </a:spcBef>
              <a:spcAft>
                <a:spcPts val="0"/>
              </a:spcAft>
              <a:buClr>
                <a:schemeClr val="dk1"/>
              </a:buClr>
              <a:buSzPts val="1100"/>
              <a:buFont typeface="Arial"/>
              <a:buNone/>
            </a:pPr>
            <a:r>
              <a:rPr lang="en-US"/>
              <a:t>⦁ Decreases vulnerabilities by integrating security into the software development life cycle.</a:t>
            </a:r>
            <a:endParaRPr/>
          </a:p>
          <a:p>
            <a:pPr indent="0" lvl="0" marL="0" rtl="0" algn="l">
              <a:spcBef>
                <a:spcPts val="1000"/>
              </a:spcBef>
              <a:spcAft>
                <a:spcPts val="0"/>
              </a:spcAft>
              <a:buClr>
                <a:schemeClr val="dk1"/>
              </a:buClr>
              <a:buSzPts val="1100"/>
              <a:buFont typeface="Arial"/>
              <a:buNone/>
            </a:pPr>
            <a:r>
              <a:rPr lang="en-US"/>
              <a:t>⦁ Supports defense in depth by implementing various layers of security such as secure code, testing, encryption and access controls.</a:t>
            </a:r>
            <a:endParaRPr/>
          </a:p>
          <a:p>
            <a:pPr indent="0" lvl="0" marL="0" rtl="0" algn="l">
              <a:lnSpc>
                <a:spcPct val="90000"/>
              </a:lnSpc>
              <a:spcBef>
                <a:spcPts val="1000"/>
              </a:spcBef>
              <a:spcAft>
                <a:spcPts val="0"/>
              </a:spcAft>
              <a:buClr>
                <a:schemeClr val="lt1"/>
              </a:buClr>
              <a:buSzPts val="2200"/>
              <a:buNone/>
            </a:pPr>
            <a:r>
              <a:rPr lang="en-US"/>
              <a:t>• Helps to ensure consistent, reliable and secure software development. </a:t>
            </a:r>
            <a:endParaRPr/>
          </a:p>
        </p:txBody>
      </p:sp>
      <p:pic>
        <p:nvPicPr>
          <p:cNvPr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id="153" name="Google Shape;153;p3"/>
          <p:cNvPicPr preferRelativeResize="0"/>
          <p:nvPr/>
        </p:nvPicPr>
        <p:blipFill rotWithShape="1">
          <a:blip r:embed="rId3">
            <a:alphaModFix/>
          </a:blip>
          <a:srcRect b="0" l="0" r="0" t="0"/>
          <a:stretch/>
        </p:blipFill>
        <p:spPr>
          <a:xfrm>
            <a:off x="6096000" y="2320526"/>
            <a:ext cx="5606100" cy="3298722"/>
          </a:xfrm>
          <a:prstGeom prst="rect">
            <a:avLst/>
          </a:prstGeom>
          <a:noFill/>
          <a:ln>
            <a:noFill/>
          </a:ln>
        </p:spPr>
      </p:pic>
      <p:pic>
        <p:nvPicPr>
          <p:cNvPr descr="Green Pace logo" id="154" name="Google Shape;154;p3"/>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p:nvPr>
            <p:ph idx="1" type="body"/>
          </p:nvPr>
        </p:nvSpPr>
        <p:spPr>
          <a:xfrm>
            <a:off x="685800" y="2194550"/>
            <a:ext cx="2486100" cy="4024200"/>
          </a:xfrm>
          <a:prstGeom prst="rect">
            <a:avLst/>
          </a:prstGeom>
          <a:noFill/>
          <a:ln>
            <a:noFill/>
          </a:ln>
        </p:spPr>
        <p:txBody>
          <a:bodyPr anchorCtr="0" anchor="t" bIns="45700" lIns="91425" spcFirstLastPara="1" rIns="91425" wrap="square" tIns="45700">
            <a:normAutofit/>
          </a:bodyPr>
          <a:lstStyle/>
          <a:p>
            <a:pPr indent="0" lvl="0" marL="228600" rtl="0" algn="l">
              <a:lnSpc>
                <a:spcPct val="107916"/>
              </a:lnSpc>
              <a:spcBef>
                <a:spcPts val="0"/>
              </a:spcBef>
              <a:spcAft>
                <a:spcPts val="0"/>
              </a:spcAft>
              <a:buSzPts val="1800"/>
              <a:buNone/>
            </a:pPr>
            <a:r>
              <a:t/>
            </a:r>
            <a:endParaRPr sz="2000"/>
          </a:p>
          <a:p>
            <a:pPr indent="-88900" lvl="0" marL="228600" rtl="0" algn="l">
              <a:lnSpc>
                <a:spcPct val="90000"/>
              </a:lnSpc>
              <a:spcBef>
                <a:spcPts val="1000"/>
              </a:spcBef>
              <a:spcAft>
                <a:spcPts val="0"/>
              </a:spcAft>
              <a:buClr>
                <a:schemeClr val="lt1"/>
              </a:buClr>
              <a:buSzPts val="2200"/>
              <a:buNone/>
            </a:pPr>
            <a:r>
              <a:t/>
            </a:r>
            <a:endParaRPr/>
          </a:p>
        </p:txBody>
      </p:sp>
      <p:graphicFrame>
        <p:nvGraphicFramePr>
          <p:cNvPr descr="Alt text required" id="161" name="Google Shape;161;p4"/>
          <p:cNvGraphicFramePr/>
          <p:nvPr/>
        </p:nvGraphicFramePr>
        <p:xfrm>
          <a:off x="3171900" y="2561050"/>
          <a:ext cx="3000000" cy="3000000"/>
        </p:xfrm>
        <a:graphic>
          <a:graphicData uri="http://schemas.openxmlformats.org/drawingml/2006/table">
            <a:tbl>
              <a:tblPr firstCol="1" firstRow="1">
                <a:noFill/>
                <a:tableStyleId>{63B1B186-2A38-4D3E-9C98-914DEF0C8B1B}</a:tableStyleId>
              </a:tblPr>
              <a:tblGrid>
                <a:gridCol w="4030425"/>
                <a:gridCol w="3804800"/>
              </a:tblGrid>
              <a:tr h="1769325">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Likely</a:t>
                      </a:r>
                      <a:endParaRPr sz="1400" u="none" cap="none" strike="noStrike"/>
                    </a:p>
                    <a:p>
                      <a:pPr indent="0" lvl="0" marL="0" marR="0" rtl="0" algn="ctr">
                        <a:lnSpc>
                          <a:spcPct val="100000"/>
                        </a:lnSpc>
                        <a:spcBef>
                          <a:spcPts val="0"/>
                        </a:spcBef>
                        <a:spcAft>
                          <a:spcPts val="0"/>
                        </a:spcAft>
                        <a:buClr>
                          <a:srgbClr val="000000"/>
                        </a:buClr>
                        <a:buSzPts val="3600"/>
                        <a:buFont typeface="Arial"/>
                        <a:buNone/>
                      </a:pPr>
                      <a:r>
                        <a:rPr lang="en-US" sz="2100">
                          <a:solidFill>
                            <a:srgbClr val="FFD966"/>
                          </a:solidFill>
                        </a:rPr>
                        <a:t>STD-001-DAT, STD-002-DAT, STD-003-STR, STD-004-SQL, STD-005-MEM, STD-007-ERR, STD-009-EX, STD-010-FIO</a:t>
                      </a:r>
                      <a:endParaRPr sz="2100" u="none" cap="none" strike="noStrike">
                        <a:solidFill>
                          <a:srgbClr val="FFD966"/>
                        </a:solidFill>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Priority</a:t>
                      </a:r>
                      <a:endParaRPr sz="1400" u="none" cap="none" strike="noStrike"/>
                    </a:p>
                    <a:p>
                      <a:pPr indent="0" lvl="0" marL="0" marR="0" rtl="0" algn="ctr">
                        <a:lnSpc>
                          <a:spcPct val="100000"/>
                        </a:lnSpc>
                        <a:spcBef>
                          <a:spcPts val="0"/>
                        </a:spcBef>
                        <a:spcAft>
                          <a:spcPts val="0"/>
                        </a:spcAft>
                        <a:buClr>
                          <a:srgbClr val="000000"/>
                        </a:buClr>
                        <a:buSzPts val="3600"/>
                        <a:buFont typeface="Arial"/>
                        <a:buNone/>
                      </a:pPr>
                      <a:r>
                        <a:rPr lang="en-US" sz="2100">
                          <a:solidFill>
                            <a:srgbClr val="FFD966"/>
                          </a:solidFill>
                        </a:rPr>
                        <a:t>STD-004-SQL (Critical), STD-005-MEM (Critical), STD-002-DAT(High)</a:t>
                      </a:r>
                      <a:endParaRPr sz="21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r h="1769325">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Low priority</a:t>
                      </a:r>
                      <a:endParaRPr sz="1400" u="none" cap="none" strike="noStrike"/>
                    </a:p>
                    <a:p>
                      <a:pPr indent="0" lvl="0" marL="0" marR="0" rtl="0" algn="ctr">
                        <a:lnSpc>
                          <a:spcPct val="100000"/>
                        </a:lnSpc>
                        <a:spcBef>
                          <a:spcPts val="0"/>
                        </a:spcBef>
                        <a:spcAft>
                          <a:spcPts val="0"/>
                        </a:spcAft>
                        <a:buClr>
                          <a:srgbClr val="000000"/>
                        </a:buClr>
                        <a:buSzPts val="3600"/>
                        <a:buFont typeface="Arial"/>
                        <a:buNone/>
                      </a:pPr>
                      <a:r>
                        <a:rPr lang="en-US" sz="2100">
                          <a:solidFill>
                            <a:srgbClr val="FFD966"/>
                          </a:solidFill>
                        </a:rPr>
                        <a:t>STD-001-DAT, STD-003-STR, STD-007-ERR, STD-008-DCL, STD-010-FIO</a:t>
                      </a:r>
                      <a:endParaRPr sz="21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Unlikely</a:t>
                      </a:r>
                      <a:endParaRPr sz="1400" u="none" cap="none" strike="noStrike"/>
                    </a:p>
                    <a:p>
                      <a:pPr indent="0" lvl="0" marL="0" marR="0" rtl="0" algn="ctr">
                        <a:lnSpc>
                          <a:spcPct val="100000"/>
                        </a:lnSpc>
                        <a:spcBef>
                          <a:spcPts val="0"/>
                        </a:spcBef>
                        <a:spcAft>
                          <a:spcPts val="0"/>
                        </a:spcAft>
                        <a:buClr>
                          <a:srgbClr val="000000"/>
                        </a:buClr>
                        <a:buSzPts val="3600"/>
                        <a:buFont typeface="Arial"/>
                        <a:buNone/>
                      </a:pPr>
                      <a:r>
                        <a:rPr lang="en-US" sz="2100">
                          <a:solidFill>
                            <a:srgbClr val="FFD966"/>
                          </a:solidFill>
                        </a:rPr>
                        <a:t>STD-006-ASR, STD-008-DCL</a:t>
                      </a:r>
                      <a:endParaRPr sz="21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bl>
          </a:graphicData>
        </a:graphic>
      </p:graphicFrame>
      <p:pic>
        <p:nvPicPr>
          <p:cNvPr descr="Green Pace logo" id="162" name="Google Shape;162;p4"/>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p:nvPr>
            <p:ph idx="1" type="body"/>
          </p:nvPr>
        </p:nvSpPr>
        <p:spPr>
          <a:xfrm>
            <a:off x="685800" y="2194559"/>
            <a:ext cx="5334000" cy="4024200"/>
          </a:xfrm>
          <a:prstGeom prst="rect">
            <a:avLst/>
          </a:prstGeom>
          <a:noFill/>
          <a:ln>
            <a:noFill/>
          </a:ln>
        </p:spPr>
        <p:txBody>
          <a:bodyPr anchorCtr="0" anchor="t" bIns="45700" lIns="91425" spcFirstLastPara="1" rIns="91425" wrap="square" tIns="45700">
            <a:normAutofit/>
          </a:bodyPr>
          <a:lstStyle/>
          <a:p>
            <a:pPr indent="-400050" lvl="0" marL="457200" rtl="0" algn="l">
              <a:lnSpc>
                <a:spcPct val="115000"/>
              </a:lnSpc>
              <a:spcBef>
                <a:spcPts val="0"/>
              </a:spcBef>
              <a:spcAft>
                <a:spcPts val="0"/>
              </a:spcAft>
              <a:buClr>
                <a:srgbClr val="595959"/>
              </a:buClr>
              <a:buSzPts val="2700"/>
              <a:buAutoNum type="arabicPeriod"/>
            </a:pPr>
            <a:r>
              <a:rPr b="1" lang="en-US" sz="2700">
                <a:solidFill>
                  <a:srgbClr val="595959"/>
                </a:solidFill>
                <a:latin typeface="Arial"/>
                <a:ea typeface="Arial"/>
                <a:cs typeface="Arial"/>
                <a:sym typeface="Arial"/>
              </a:rPr>
              <a:t>Validate Input Data</a:t>
            </a:r>
            <a:endParaRPr b="1" sz="2700">
              <a:solidFill>
                <a:srgbClr val="595959"/>
              </a:solidFill>
              <a:latin typeface="Arial"/>
              <a:ea typeface="Arial"/>
              <a:cs typeface="Arial"/>
              <a:sym typeface="Arial"/>
            </a:endParaRPr>
          </a:p>
          <a:p>
            <a:pPr indent="-400050" lvl="0" marL="457200" rtl="0" algn="l">
              <a:lnSpc>
                <a:spcPct val="115000"/>
              </a:lnSpc>
              <a:spcBef>
                <a:spcPts val="0"/>
              </a:spcBef>
              <a:spcAft>
                <a:spcPts val="0"/>
              </a:spcAft>
              <a:buClr>
                <a:srgbClr val="595959"/>
              </a:buClr>
              <a:buSzPts val="2700"/>
              <a:buAutoNum type="arabicPeriod"/>
            </a:pPr>
            <a:r>
              <a:rPr b="1" lang="en-US" sz="2700">
                <a:solidFill>
                  <a:srgbClr val="595959"/>
                </a:solidFill>
                <a:latin typeface="Arial"/>
                <a:ea typeface="Arial"/>
                <a:cs typeface="Arial"/>
                <a:sym typeface="Arial"/>
              </a:rPr>
              <a:t>Heed Compiler Warnings</a:t>
            </a:r>
            <a:endParaRPr b="1" sz="2700">
              <a:solidFill>
                <a:srgbClr val="595959"/>
              </a:solidFill>
              <a:latin typeface="Arial"/>
              <a:ea typeface="Arial"/>
              <a:cs typeface="Arial"/>
              <a:sym typeface="Arial"/>
            </a:endParaRPr>
          </a:p>
          <a:p>
            <a:pPr indent="-400050" lvl="0" marL="457200" rtl="0" algn="l">
              <a:lnSpc>
                <a:spcPct val="115000"/>
              </a:lnSpc>
              <a:spcBef>
                <a:spcPts val="0"/>
              </a:spcBef>
              <a:spcAft>
                <a:spcPts val="0"/>
              </a:spcAft>
              <a:buClr>
                <a:srgbClr val="595959"/>
              </a:buClr>
              <a:buSzPts val="2700"/>
              <a:buAutoNum type="arabicPeriod"/>
            </a:pPr>
            <a:r>
              <a:rPr b="1" lang="en-US" sz="2700">
                <a:solidFill>
                  <a:srgbClr val="595959"/>
                </a:solidFill>
                <a:latin typeface="Arial"/>
                <a:ea typeface="Arial"/>
                <a:cs typeface="Arial"/>
                <a:sym typeface="Arial"/>
              </a:rPr>
              <a:t>Architect and Design for Security Policies</a:t>
            </a:r>
            <a:endParaRPr b="1" sz="2700">
              <a:solidFill>
                <a:srgbClr val="595959"/>
              </a:solidFill>
              <a:latin typeface="Arial"/>
              <a:ea typeface="Arial"/>
              <a:cs typeface="Arial"/>
              <a:sym typeface="Arial"/>
            </a:endParaRPr>
          </a:p>
          <a:p>
            <a:pPr indent="-400050" lvl="0" marL="457200" rtl="0" algn="l">
              <a:lnSpc>
                <a:spcPct val="115000"/>
              </a:lnSpc>
              <a:spcBef>
                <a:spcPts val="0"/>
              </a:spcBef>
              <a:spcAft>
                <a:spcPts val="0"/>
              </a:spcAft>
              <a:buClr>
                <a:srgbClr val="595959"/>
              </a:buClr>
              <a:buSzPts val="2700"/>
              <a:buAutoNum type="arabicPeriod"/>
            </a:pPr>
            <a:r>
              <a:rPr b="1" lang="en-US" sz="2700">
                <a:solidFill>
                  <a:srgbClr val="595959"/>
                </a:solidFill>
                <a:latin typeface="Arial"/>
                <a:ea typeface="Arial"/>
                <a:cs typeface="Arial"/>
                <a:sym typeface="Arial"/>
              </a:rPr>
              <a:t>Keep It Simple</a:t>
            </a:r>
            <a:endParaRPr b="1" sz="2700">
              <a:solidFill>
                <a:srgbClr val="595959"/>
              </a:solidFill>
              <a:latin typeface="Arial"/>
              <a:ea typeface="Arial"/>
              <a:cs typeface="Arial"/>
              <a:sym typeface="Arial"/>
            </a:endParaRPr>
          </a:p>
          <a:p>
            <a:pPr indent="-400050" lvl="0" marL="457200" rtl="0" algn="l">
              <a:lnSpc>
                <a:spcPct val="115000"/>
              </a:lnSpc>
              <a:spcBef>
                <a:spcPts val="0"/>
              </a:spcBef>
              <a:spcAft>
                <a:spcPts val="0"/>
              </a:spcAft>
              <a:buClr>
                <a:srgbClr val="595959"/>
              </a:buClr>
              <a:buSzPts val="2700"/>
              <a:buAutoNum type="arabicPeriod"/>
            </a:pPr>
            <a:r>
              <a:rPr b="1" lang="en-US" sz="2700">
                <a:solidFill>
                  <a:srgbClr val="595959"/>
                </a:solidFill>
                <a:latin typeface="Arial"/>
                <a:ea typeface="Arial"/>
                <a:cs typeface="Arial"/>
                <a:sym typeface="Arial"/>
              </a:rPr>
              <a:t>Default Deny</a:t>
            </a:r>
            <a:endParaRPr b="1" sz="2700">
              <a:solidFill>
                <a:srgbClr val="595959"/>
              </a:solidFill>
              <a:latin typeface="Arial"/>
              <a:ea typeface="Arial"/>
              <a:cs typeface="Arial"/>
              <a:sym typeface="Arial"/>
            </a:endParaRPr>
          </a:p>
          <a:p>
            <a:pPr indent="0" lvl="0" marL="0" rtl="0" algn="l">
              <a:lnSpc>
                <a:spcPct val="90000"/>
              </a:lnSpc>
              <a:spcBef>
                <a:spcPts val="1200"/>
              </a:spcBef>
              <a:spcAft>
                <a:spcPts val="0"/>
              </a:spcAft>
              <a:buNone/>
            </a:pPr>
            <a:r>
              <a:t/>
            </a:r>
            <a:endParaRPr/>
          </a:p>
        </p:txBody>
      </p:sp>
      <p:pic>
        <p:nvPicPr>
          <p:cNvPr descr="Green Pace logo" id="169" name="Google Shape;169;p5"/>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170" name="Google Shape;170;p5"/>
          <p:cNvSpPr txBox="1"/>
          <p:nvPr>
            <p:ph idx="2" type="body"/>
          </p:nvPr>
        </p:nvSpPr>
        <p:spPr>
          <a:xfrm>
            <a:off x="6172200" y="2194559"/>
            <a:ext cx="5334000" cy="4024200"/>
          </a:xfrm>
          <a:prstGeom prst="rect">
            <a:avLst/>
          </a:prstGeom>
        </p:spPr>
        <p:txBody>
          <a:bodyPr anchorCtr="0" anchor="t" bIns="45700" lIns="91425" spcFirstLastPara="1" rIns="91425" wrap="square" tIns="45700">
            <a:normAutofit fontScale="85000" lnSpcReduction="20000"/>
          </a:bodyPr>
          <a:lstStyle/>
          <a:p>
            <a:pPr indent="-401320" lvl="0" marL="457200" rtl="0" algn="l">
              <a:lnSpc>
                <a:spcPct val="115000"/>
              </a:lnSpc>
              <a:spcBef>
                <a:spcPts val="0"/>
              </a:spcBef>
              <a:spcAft>
                <a:spcPts val="0"/>
              </a:spcAft>
              <a:buClr>
                <a:srgbClr val="595959"/>
              </a:buClr>
              <a:buSzPct val="100000"/>
              <a:buAutoNum type="arabicPeriod" startAt="6"/>
            </a:pPr>
            <a:r>
              <a:rPr b="1" lang="en-US" sz="3200">
                <a:solidFill>
                  <a:srgbClr val="595959"/>
                </a:solidFill>
                <a:latin typeface="Arial"/>
                <a:ea typeface="Arial"/>
                <a:cs typeface="Arial"/>
                <a:sym typeface="Arial"/>
              </a:rPr>
              <a:t>Adhere to the Principle of Least Privilege</a:t>
            </a:r>
            <a:endParaRPr b="1" sz="3200">
              <a:solidFill>
                <a:srgbClr val="595959"/>
              </a:solidFill>
              <a:latin typeface="Arial"/>
              <a:ea typeface="Arial"/>
              <a:cs typeface="Arial"/>
              <a:sym typeface="Arial"/>
            </a:endParaRPr>
          </a:p>
          <a:p>
            <a:pPr indent="-401320" lvl="0" marL="457200" rtl="0" algn="l">
              <a:lnSpc>
                <a:spcPct val="115000"/>
              </a:lnSpc>
              <a:spcBef>
                <a:spcPts val="0"/>
              </a:spcBef>
              <a:spcAft>
                <a:spcPts val="0"/>
              </a:spcAft>
              <a:buClr>
                <a:srgbClr val="595959"/>
              </a:buClr>
              <a:buSzPct val="100000"/>
              <a:buAutoNum type="arabicPeriod" startAt="6"/>
            </a:pPr>
            <a:r>
              <a:rPr b="1" lang="en-US" sz="3200">
                <a:solidFill>
                  <a:srgbClr val="595959"/>
                </a:solidFill>
                <a:latin typeface="Arial"/>
                <a:ea typeface="Arial"/>
                <a:cs typeface="Arial"/>
                <a:sym typeface="Arial"/>
              </a:rPr>
              <a:t>Sanitize Data Sent to Other Systems</a:t>
            </a:r>
            <a:endParaRPr b="1" sz="3200">
              <a:solidFill>
                <a:srgbClr val="595959"/>
              </a:solidFill>
              <a:latin typeface="Arial"/>
              <a:ea typeface="Arial"/>
              <a:cs typeface="Arial"/>
              <a:sym typeface="Arial"/>
            </a:endParaRPr>
          </a:p>
          <a:p>
            <a:pPr indent="-401320" lvl="0" marL="457200" rtl="0" algn="l">
              <a:lnSpc>
                <a:spcPct val="115000"/>
              </a:lnSpc>
              <a:spcBef>
                <a:spcPts val="0"/>
              </a:spcBef>
              <a:spcAft>
                <a:spcPts val="0"/>
              </a:spcAft>
              <a:buClr>
                <a:srgbClr val="595959"/>
              </a:buClr>
              <a:buSzPct val="100000"/>
              <a:buAutoNum type="arabicPeriod" startAt="6"/>
            </a:pPr>
            <a:r>
              <a:rPr b="1" lang="en-US" sz="3200">
                <a:solidFill>
                  <a:srgbClr val="595959"/>
                </a:solidFill>
                <a:latin typeface="Arial"/>
                <a:ea typeface="Arial"/>
                <a:cs typeface="Arial"/>
                <a:sym typeface="Arial"/>
              </a:rPr>
              <a:t>Practice Defense in Depth</a:t>
            </a:r>
            <a:endParaRPr b="1" sz="3200">
              <a:solidFill>
                <a:srgbClr val="595959"/>
              </a:solidFill>
              <a:latin typeface="Arial"/>
              <a:ea typeface="Arial"/>
              <a:cs typeface="Arial"/>
              <a:sym typeface="Arial"/>
            </a:endParaRPr>
          </a:p>
          <a:p>
            <a:pPr indent="-401320" lvl="0" marL="457200" rtl="0" algn="l">
              <a:lnSpc>
                <a:spcPct val="115000"/>
              </a:lnSpc>
              <a:spcBef>
                <a:spcPts val="0"/>
              </a:spcBef>
              <a:spcAft>
                <a:spcPts val="0"/>
              </a:spcAft>
              <a:buClr>
                <a:srgbClr val="595959"/>
              </a:buClr>
              <a:buSzPct val="100000"/>
              <a:buAutoNum type="arabicPeriod" startAt="6"/>
            </a:pPr>
            <a:r>
              <a:rPr b="1" lang="en-US" sz="3200">
                <a:solidFill>
                  <a:srgbClr val="595959"/>
                </a:solidFill>
                <a:latin typeface="Arial"/>
                <a:ea typeface="Arial"/>
                <a:cs typeface="Arial"/>
                <a:sym typeface="Arial"/>
              </a:rPr>
              <a:t>Use Effective Quality Assurance Techniques</a:t>
            </a:r>
            <a:endParaRPr b="1" sz="3200">
              <a:solidFill>
                <a:srgbClr val="595959"/>
              </a:solidFill>
              <a:latin typeface="Arial"/>
              <a:ea typeface="Arial"/>
              <a:cs typeface="Arial"/>
              <a:sym typeface="Arial"/>
            </a:endParaRPr>
          </a:p>
          <a:p>
            <a:pPr indent="-401320" lvl="0" marL="457200" rtl="0" algn="l">
              <a:lnSpc>
                <a:spcPct val="115000"/>
              </a:lnSpc>
              <a:spcBef>
                <a:spcPts val="0"/>
              </a:spcBef>
              <a:spcAft>
                <a:spcPts val="0"/>
              </a:spcAft>
              <a:buClr>
                <a:srgbClr val="595959"/>
              </a:buClr>
              <a:buSzPct val="100000"/>
              <a:buAutoNum type="arabicPeriod" startAt="6"/>
            </a:pPr>
            <a:r>
              <a:rPr b="1" lang="en-US" sz="3200">
                <a:solidFill>
                  <a:srgbClr val="595959"/>
                </a:solidFill>
                <a:latin typeface="Arial"/>
                <a:ea typeface="Arial"/>
                <a:cs typeface="Arial"/>
                <a:sym typeface="Arial"/>
              </a:rPr>
              <a:t>Adopt a Secure Coding Standard</a:t>
            </a:r>
            <a:endParaRPr b="1" sz="3200">
              <a:solidFill>
                <a:schemeClr val="dk1"/>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6"/>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CODING STANDARDS</a:t>
            </a:r>
            <a:endParaRPr/>
          </a:p>
        </p:txBody>
      </p:sp>
      <p:sp>
        <p:nvSpPr>
          <p:cNvPr id="176" name="Google Shape;176;p6"/>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000"/>
              <a:buAutoNum type="arabicPeriod"/>
            </a:pPr>
            <a:r>
              <a:rPr lang="en-US" sz="2000"/>
              <a:t>STD-001-SQL: SQL Injection Prevention</a:t>
            </a:r>
            <a:endParaRPr sz="2000"/>
          </a:p>
          <a:p>
            <a:pPr indent="-228600" lvl="0" marL="228600" rtl="0" algn="l">
              <a:lnSpc>
                <a:spcPct val="90000"/>
              </a:lnSpc>
              <a:spcBef>
                <a:spcPts val="0"/>
              </a:spcBef>
              <a:spcAft>
                <a:spcPts val="0"/>
              </a:spcAft>
              <a:buSzPts val="2000"/>
              <a:buAutoNum type="arabicPeriod"/>
            </a:pPr>
            <a:r>
              <a:rPr lang="en-US" sz="2000"/>
              <a:t>STD-005-MEM: Memory Management</a:t>
            </a:r>
            <a:endParaRPr sz="2000"/>
          </a:p>
          <a:p>
            <a:pPr indent="-228600" lvl="0" marL="228600" rtl="0" algn="l">
              <a:lnSpc>
                <a:spcPct val="90000"/>
              </a:lnSpc>
              <a:spcBef>
                <a:spcPts val="0"/>
              </a:spcBef>
              <a:spcAft>
                <a:spcPts val="0"/>
              </a:spcAft>
              <a:buSzPts val="2000"/>
              <a:buAutoNum type="arabicPeriod"/>
            </a:pPr>
            <a:r>
              <a:rPr lang="en-US" sz="2000"/>
              <a:t>STD-002-DAT: Integer Overflow</a:t>
            </a:r>
            <a:endParaRPr sz="2000"/>
          </a:p>
          <a:p>
            <a:pPr indent="-228600" lvl="0" marL="228600" rtl="0" algn="l">
              <a:lnSpc>
                <a:spcPct val="90000"/>
              </a:lnSpc>
              <a:spcBef>
                <a:spcPts val="0"/>
              </a:spcBef>
              <a:spcAft>
                <a:spcPts val="0"/>
              </a:spcAft>
              <a:buSzPts val="2000"/>
              <a:buAutoNum type="arabicPeriod"/>
            </a:pPr>
            <a:r>
              <a:rPr lang="en-US" sz="2000"/>
              <a:t>STD-009-EXP: Object Lifetime Management</a:t>
            </a:r>
            <a:endParaRPr sz="2000"/>
          </a:p>
          <a:p>
            <a:pPr indent="-228600" lvl="0" marL="228600" rtl="0" algn="l">
              <a:lnSpc>
                <a:spcPct val="90000"/>
              </a:lnSpc>
              <a:spcBef>
                <a:spcPts val="0"/>
              </a:spcBef>
              <a:spcAft>
                <a:spcPts val="0"/>
              </a:spcAft>
              <a:buSzPts val="2000"/>
              <a:buAutoNum type="arabicPeriod"/>
            </a:pPr>
            <a:r>
              <a:rPr lang="en-US" sz="2000"/>
              <a:t>STD-001-DAT: Enumeration Validation</a:t>
            </a:r>
            <a:endParaRPr sz="2000"/>
          </a:p>
          <a:p>
            <a:pPr indent="-228600" lvl="0" marL="228600" rtl="0" algn="l">
              <a:lnSpc>
                <a:spcPct val="90000"/>
              </a:lnSpc>
              <a:spcBef>
                <a:spcPts val="0"/>
              </a:spcBef>
              <a:spcAft>
                <a:spcPts val="0"/>
              </a:spcAft>
              <a:buSzPts val="2000"/>
              <a:buAutoNum type="arabicPeriod"/>
            </a:pPr>
            <a:r>
              <a:rPr lang="en-US" sz="2000"/>
              <a:t>STD-003-STR: Null String Validation</a:t>
            </a:r>
            <a:endParaRPr sz="2000"/>
          </a:p>
          <a:p>
            <a:pPr indent="-228600" lvl="0" marL="228600" rtl="0" algn="l">
              <a:lnSpc>
                <a:spcPct val="90000"/>
              </a:lnSpc>
              <a:spcBef>
                <a:spcPts val="0"/>
              </a:spcBef>
              <a:spcAft>
                <a:spcPts val="0"/>
              </a:spcAft>
              <a:buSzPts val="2000"/>
              <a:buAutoNum type="arabicPeriod"/>
            </a:pPr>
            <a:r>
              <a:rPr lang="en-US" sz="2000"/>
              <a:t>STD-007-ERR: Exception Handling</a:t>
            </a:r>
            <a:endParaRPr sz="2000"/>
          </a:p>
          <a:p>
            <a:pPr indent="-228600" lvl="0" marL="228600" rtl="0" algn="l">
              <a:lnSpc>
                <a:spcPct val="90000"/>
              </a:lnSpc>
              <a:spcBef>
                <a:spcPts val="0"/>
              </a:spcBef>
              <a:spcAft>
                <a:spcPts val="0"/>
              </a:spcAft>
              <a:buSzPts val="2000"/>
              <a:buAutoNum type="arabicPeriod"/>
            </a:pPr>
            <a:r>
              <a:rPr lang="en-US" sz="2000"/>
              <a:t>STD-010-FIO: File Resource Management</a:t>
            </a:r>
            <a:endParaRPr sz="2000"/>
          </a:p>
          <a:p>
            <a:pPr indent="-228600" lvl="0" marL="228600" rtl="0" algn="l">
              <a:lnSpc>
                <a:spcPct val="90000"/>
              </a:lnSpc>
              <a:spcBef>
                <a:spcPts val="0"/>
              </a:spcBef>
              <a:spcAft>
                <a:spcPts val="0"/>
              </a:spcAft>
              <a:buSzPts val="2000"/>
              <a:buAutoNum type="arabicPeriod"/>
            </a:pPr>
            <a:r>
              <a:rPr lang="en-US" sz="2000"/>
              <a:t>STD-006-ASR: Array Bounds Checking</a:t>
            </a:r>
            <a:endParaRPr sz="2000"/>
          </a:p>
          <a:p>
            <a:pPr indent="-228600" lvl="0" marL="228600" rtl="0" algn="l">
              <a:lnSpc>
                <a:spcPct val="90000"/>
              </a:lnSpc>
              <a:spcBef>
                <a:spcPts val="0"/>
              </a:spcBef>
              <a:spcAft>
                <a:spcPts val="0"/>
              </a:spcAft>
              <a:buSzPts val="2000"/>
              <a:buAutoNum type="arabicPeriod"/>
            </a:pPr>
            <a:r>
              <a:rPr lang="en-US" sz="2000"/>
              <a:t>STD-008-DCL: Safe Function Declarations</a:t>
            </a:r>
            <a:endParaRPr sz="2000"/>
          </a:p>
        </p:txBody>
      </p:sp>
      <p:pic>
        <p:nvPicPr>
          <p:cNvPr descr="Green Pace logo" id="177" name="Google Shape;177;p6"/>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ENCRYPTION POLICIES</a:t>
            </a:r>
            <a:endParaRPr/>
          </a:p>
        </p:txBody>
      </p:sp>
      <p:sp>
        <p:nvSpPr>
          <p:cNvPr id="183" name="Google Shape;183;p7"/>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rmAutofit lnSpcReduction="20000"/>
          </a:bodyPr>
          <a:lstStyle/>
          <a:p>
            <a:pPr indent="-355600" lvl="0" marL="457200" rtl="0" algn="l">
              <a:spcBef>
                <a:spcPts val="0"/>
              </a:spcBef>
              <a:spcAft>
                <a:spcPts val="0"/>
              </a:spcAft>
              <a:buSzPts val="2000"/>
              <a:buChar char="•"/>
            </a:pPr>
            <a:r>
              <a:rPr lang="en-US" sz="2000"/>
              <a:t>Encryption in Transit</a:t>
            </a:r>
            <a:endParaRPr sz="2000"/>
          </a:p>
          <a:p>
            <a:pPr indent="-355600" lvl="1" marL="914400" rtl="0" algn="l">
              <a:spcBef>
                <a:spcPts val="0"/>
              </a:spcBef>
              <a:spcAft>
                <a:spcPts val="0"/>
              </a:spcAft>
              <a:buSzPts val="2000"/>
              <a:buChar char="•"/>
            </a:pPr>
            <a:r>
              <a:rPr lang="en-US" sz="2000"/>
              <a:t>Use TLS 1.3/HTTPS to protect data in transit.</a:t>
            </a:r>
            <a:endParaRPr sz="2000"/>
          </a:p>
          <a:p>
            <a:pPr indent="-355600" lvl="1" marL="914400" rtl="0" algn="l">
              <a:spcBef>
                <a:spcPts val="0"/>
              </a:spcBef>
              <a:spcAft>
                <a:spcPts val="0"/>
              </a:spcAft>
              <a:buSzPts val="2000"/>
              <a:buChar char="•"/>
            </a:pPr>
            <a:r>
              <a:rPr lang="en-US" sz="2000"/>
              <a:t>Validate certificates to avoid interception.</a:t>
            </a:r>
            <a:endParaRPr sz="2000"/>
          </a:p>
          <a:p>
            <a:pPr indent="-355600" lvl="1" marL="914400" rtl="0" algn="l">
              <a:spcBef>
                <a:spcPts val="0"/>
              </a:spcBef>
              <a:spcAft>
                <a:spcPts val="0"/>
              </a:spcAft>
              <a:buSzPts val="2000"/>
              <a:buChar char="•"/>
            </a:pPr>
            <a:r>
              <a:rPr lang="en-US" sz="2000"/>
              <a:t>Encrypt all network traffic between client and server.</a:t>
            </a:r>
            <a:endParaRPr sz="2000"/>
          </a:p>
          <a:p>
            <a:pPr indent="-355600" lvl="0" marL="457200" rtl="0" algn="l">
              <a:spcBef>
                <a:spcPts val="0"/>
              </a:spcBef>
              <a:spcAft>
                <a:spcPts val="0"/>
              </a:spcAft>
              <a:buSzPts val="2000"/>
              <a:buChar char="•"/>
            </a:pPr>
            <a:r>
              <a:rPr lang="en-US" sz="2000"/>
              <a:t>Encryption in Rest</a:t>
            </a:r>
            <a:endParaRPr sz="2000"/>
          </a:p>
          <a:p>
            <a:pPr indent="-355600" lvl="1" marL="914400" rtl="0" algn="l">
              <a:spcBef>
                <a:spcPts val="0"/>
              </a:spcBef>
              <a:spcAft>
                <a:spcPts val="0"/>
              </a:spcAft>
              <a:buSzPts val="2000"/>
              <a:buChar char="•"/>
            </a:pPr>
            <a:r>
              <a:rPr lang="en-US" sz="2000"/>
              <a:t>Protect stored data by employing AES-256 encryption.</a:t>
            </a:r>
            <a:endParaRPr sz="2000"/>
          </a:p>
          <a:p>
            <a:pPr indent="-355600" lvl="1" marL="914400" rtl="0" algn="l">
              <a:spcBef>
                <a:spcPts val="0"/>
              </a:spcBef>
              <a:spcAft>
                <a:spcPts val="0"/>
              </a:spcAft>
              <a:buSzPts val="2000"/>
              <a:buChar char="•"/>
            </a:pPr>
            <a:r>
              <a:rPr lang="en-US" sz="2000"/>
              <a:t>Encrypt databases, file systems and backups.</a:t>
            </a:r>
            <a:endParaRPr sz="2000"/>
          </a:p>
          <a:p>
            <a:pPr indent="-355600" lvl="1" marL="914400" rtl="0" algn="l">
              <a:spcBef>
                <a:spcPts val="0"/>
              </a:spcBef>
              <a:spcAft>
                <a:spcPts val="0"/>
              </a:spcAft>
              <a:buSzPts val="2000"/>
              <a:buChar char="•"/>
            </a:pPr>
            <a:r>
              <a:rPr lang="en-US" sz="2000"/>
              <a:t>Only authorized users should be given decryption keys.</a:t>
            </a:r>
            <a:endParaRPr sz="2000"/>
          </a:p>
          <a:p>
            <a:pPr indent="-355600" lvl="0" marL="457200" rtl="0" algn="l">
              <a:spcBef>
                <a:spcPts val="0"/>
              </a:spcBef>
              <a:spcAft>
                <a:spcPts val="0"/>
              </a:spcAft>
              <a:buSzPts val="2000"/>
              <a:buChar char="•"/>
            </a:pPr>
            <a:r>
              <a:rPr lang="en-US" sz="2000"/>
              <a:t>Encryption in Use</a:t>
            </a:r>
            <a:endParaRPr sz="2000"/>
          </a:p>
          <a:p>
            <a:pPr indent="-355600" lvl="1" marL="914400" rtl="0" algn="l">
              <a:spcBef>
                <a:spcPts val="0"/>
              </a:spcBef>
              <a:spcAft>
                <a:spcPts val="0"/>
              </a:spcAft>
              <a:buSzPts val="2000"/>
              <a:buChar char="•"/>
            </a:pPr>
            <a:r>
              <a:rPr lang="en-US" sz="2000"/>
              <a:t>Secure data as it is processed in memory.</a:t>
            </a:r>
            <a:endParaRPr sz="2000"/>
          </a:p>
          <a:p>
            <a:pPr indent="-355600" lvl="1" marL="914400" rtl="0" algn="l">
              <a:spcBef>
                <a:spcPts val="0"/>
              </a:spcBef>
              <a:spcAft>
                <a:spcPts val="0"/>
              </a:spcAft>
              <a:buSzPts val="2000"/>
              <a:buChar char="•"/>
            </a:pPr>
            <a:r>
              <a:rPr lang="en-US" sz="2000"/>
              <a:t>Use Trusted Execution Environments (TEEs) or secure enclaves when you are working with really sensitive data.</a:t>
            </a:r>
            <a:endParaRPr sz="2000"/>
          </a:p>
          <a:p>
            <a:pPr indent="-355600" lvl="1" marL="914400" rtl="0" algn="l">
              <a:lnSpc>
                <a:spcPct val="90000"/>
              </a:lnSpc>
              <a:spcBef>
                <a:spcPts val="0"/>
              </a:spcBef>
              <a:spcAft>
                <a:spcPts val="0"/>
              </a:spcAft>
              <a:buClr>
                <a:schemeClr val="lt1"/>
              </a:buClr>
              <a:buSzPts val="2000"/>
              <a:buChar char="•"/>
            </a:pPr>
            <a:r>
              <a:rPr lang="en-US" sz="2000"/>
              <a:t>Principle of least privilege for memory access . Clear sensitive data from memory after processing . </a:t>
            </a:r>
            <a:endParaRPr sz="2000"/>
          </a:p>
          <a:p>
            <a:pPr indent="0" lvl="0" marL="0" rtl="0" algn="l">
              <a:lnSpc>
                <a:spcPct val="90000"/>
              </a:lnSpc>
              <a:spcBef>
                <a:spcPts val="1000"/>
              </a:spcBef>
              <a:spcAft>
                <a:spcPts val="0"/>
              </a:spcAft>
              <a:buClr>
                <a:schemeClr val="lt1"/>
              </a:buClr>
              <a:buSzPts val="1600"/>
              <a:buNone/>
            </a:pPr>
            <a:r>
              <a:t/>
            </a:r>
            <a:endParaRPr sz="1600"/>
          </a:p>
          <a:p>
            <a:pPr indent="-88900" lvl="0" marL="228600" rtl="0" algn="l">
              <a:lnSpc>
                <a:spcPct val="90000"/>
              </a:lnSpc>
              <a:spcBef>
                <a:spcPts val="1000"/>
              </a:spcBef>
              <a:spcAft>
                <a:spcPts val="0"/>
              </a:spcAft>
              <a:buClr>
                <a:schemeClr val="lt1"/>
              </a:buClr>
              <a:buSzPts val="2200"/>
              <a:buNone/>
            </a:pPr>
            <a:r>
              <a:t/>
            </a:r>
            <a:endParaRPr/>
          </a:p>
        </p:txBody>
      </p:sp>
      <p:pic>
        <p:nvPicPr>
          <p:cNvPr descr="Green Pace logo" id="184" name="Google Shape;184;p7"/>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TRIPLE-A POLICIES</a:t>
            </a:r>
            <a:endParaRPr/>
          </a:p>
        </p:txBody>
      </p:sp>
      <p:sp>
        <p:nvSpPr>
          <p:cNvPr id="190" name="Google Shape;190;p8"/>
          <p:cNvSpPr txBox="1"/>
          <p:nvPr>
            <p:ph idx="1" type="body"/>
          </p:nvPr>
        </p:nvSpPr>
        <p:spPr>
          <a:xfrm>
            <a:off x="685800" y="1947800"/>
            <a:ext cx="10820400" cy="4524900"/>
          </a:xfrm>
          <a:prstGeom prst="rect">
            <a:avLst/>
          </a:prstGeom>
          <a:noFill/>
          <a:ln>
            <a:noFill/>
          </a:ln>
        </p:spPr>
        <p:txBody>
          <a:bodyPr anchorCtr="0" anchor="t" bIns="45700" lIns="91425" spcFirstLastPara="1" rIns="91425" wrap="square" tIns="45700">
            <a:normAutofit fontScale="92500" lnSpcReduction="20000"/>
          </a:bodyPr>
          <a:lstStyle/>
          <a:p>
            <a:pPr indent="-369570" lvl="0" marL="457200" rtl="0" algn="l">
              <a:spcBef>
                <a:spcPts val="0"/>
              </a:spcBef>
              <a:spcAft>
                <a:spcPts val="0"/>
              </a:spcAft>
              <a:buSzPct val="100000"/>
              <a:buChar char="•"/>
            </a:pPr>
            <a:r>
              <a:rPr lang="en-US" sz="2400"/>
              <a:t>Authentication</a:t>
            </a:r>
            <a:endParaRPr sz="2400"/>
          </a:p>
          <a:p>
            <a:pPr indent="-369570" lvl="1" marL="914400" rtl="0" algn="l">
              <a:spcBef>
                <a:spcPts val="0"/>
              </a:spcBef>
              <a:spcAft>
                <a:spcPts val="0"/>
              </a:spcAft>
              <a:buSzPct val="100000"/>
              <a:buChar char="•"/>
            </a:pPr>
            <a:r>
              <a:rPr lang="en-US" sz="2400"/>
              <a:t>Require multi-factor authentication (MFA) for all users accessing Green Pace systems </a:t>
            </a:r>
            <a:endParaRPr sz="2400"/>
          </a:p>
          <a:p>
            <a:pPr indent="-369570" lvl="1" marL="914400" rtl="0" algn="l">
              <a:spcBef>
                <a:spcPts val="0"/>
              </a:spcBef>
              <a:spcAft>
                <a:spcPts val="0"/>
              </a:spcAft>
              <a:buSzPct val="100000"/>
              <a:buChar char="•"/>
            </a:pPr>
            <a:r>
              <a:rPr lang="en-US" sz="2400"/>
              <a:t>Require strong passwords and use secure login verification.</a:t>
            </a:r>
            <a:endParaRPr sz="2400"/>
          </a:p>
          <a:p>
            <a:pPr indent="-369570" lvl="1" marL="914400" rtl="0" algn="l">
              <a:spcBef>
                <a:spcPts val="0"/>
              </a:spcBef>
              <a:spcAft>
                <a:spcPts val="0"/>
              </a:spcAft>
              <a:buSzPct val="100000"/>
              <a:buChar char="•"/>
            </a:pPr>
            <a:r>
              <a:rPr lang="en-US" sz="2400"/>
              <a:t>Verify the user before allowing access to protected resources.</a:t>
            </a:r>
            <a:endParaRPr sz="2400"/>
          </a:p>
          <a:p>
            <a:pPr indent="-369570" lvl="0" marL="457200" rtl="0" algn="l">
              <a:spcBef>
                <a:spcPts val="0"/>
              </a:spcBef>
              <a:spcAft>
                <a:spcPts val="0"/>
              </a:spcAft>
              <a:buSzPct val="100000"/>
              <a:buChar char="•"/>
            </a:pPr>
            <a:r>
              <a:rPr lang="en-US" sz="2400"/>
              <a:t> Authorization</a:t>
            </a:r>
            <a:endParaRPr sz="2400"/>
          </a:p>
          <a:p>
            <a:pPr indent="-369570" lvl="1" marL="914400" rtl="0" algn="l">
              <a:spcBef>
                <a:spcPts val="0"/>
              </a:spcBef>
              <a:spcAft>
                <a:spcPts val="0"/>
              </a:spcAft>
              <a:buSzPct val="100000"/>
              <a:buChar char="•"/>
            </a:pPr>
            <a:r>
              <a:rPr lang="en-US" sz="2400"/>
              <a:t> Use role-based access control (RBAC) to assign permissions based on job functions. </a:t>
            </a:r>
            <a:endParaRPr sz="2400"/>
          </a:p>
          <a:p>
            <a:pPr indent="-369570" lvl="1" marL="914400" rtl="0" algn="l">
              <a:spcBef>
                <a:spcPts val="0"/>
              </a:spcBef>
              <a:spcAft>
                <a:spcPts val="0"/>
              </a:spcAft>
              <a:buSzPct val="100000"/>
              <a:buChar char="•"/>
            </a:pPr>
            <a:r>
              <a:rPr lang="en-US" sz="2400"/>
              <a:t>Apply the concept of least privilege, allowing only the minimum access required. </a:t>
            </a:r>
            <a:endParaRPr sz="2400"/>
          </a:p>
          <a:p>
            <a:pPr indent="-369570" lvl="1" marL="914400" rtl="0" algn="l">
              <a:spcBef>
                <a:spcPts val="0"/>
              </a:spcBef>
              <a:spcAft>
                <a:spcPts val="0"/>
              </a:spcAft>
              <a:buSzPct val="100000"/>
              <a:buChar char="•"/>
            </a:pPr>
            <a:r>
              <a:rPr lang="en-US" sz="2400"/>
              <a:t>Review and revise user permissions periodically.</a:t>
            </a:r>
            <a:endParaRPr sz="2400"/>
          </a:p>
          <a:p>
            <a:pPr indent="-369570" lvl="0" marL="457200" rtl="0" algn="l">
              <a:spcBef>
                <a:spcPts val="0"/>
              </a:spcBef>
              <a:spcAft>
                <a:spcPts val="0"/>
              </a:spcAft>
              <a:buSzPct val="100000"/>
              <a:buChar char="•"/>
            </a:pPr>
            <a:r>
              <a:rPr lang="en-US" sz="2400"/>
              <a:t>Accounting</a:t>
            </a:r>
            <a:endParaRPr sz="2400"/>
          </a:p>
          <a:p>
            <a:pPr indent="-369570" lvl="1" marL="914400" rtl="0" algn="l">
              <a:lnSpc>
                <a:spcPct val="90000"/>
              </a:lnSpc>
              <a:spcBef>
                <a:spcPts val="0"/>
              </a:spcBef>
              <a:spcAft>
                <a:spcPts val="0"/>
              </a:spcAft>
              <a:buSzPct val="100000"/>
              <a:buChar char="•"/>
            </a:pPr>
            <a:r>
              <a:rPr lang="en-US" sz="2400"/>
              <a:t>Record and monitor user logins, access attempts, database modifications, and file activity. </a:t>
            </a:r>
            <a:endParaRPr sz="2400"/>
          </a:p>
          <a:p>
            <a:pPr indent="-369570" lvl="1" marL="914400" rtl="0" algn="l">
              <a:lnSpc>
                <a:spcPct val="90000"/>
              </a:lnSpc>
              <a:spcBef>
                <a:spcPts val="0"/>
              </a:spcBef>
              <a:spcAft>
                <a:spcPts val="0"/>
              </a:spcAft>
              <a:buSzPct val="100000"/>
              <a:buChar char="•"/>
            </a:pPr>
            <a:r>
              <a:rPr lang="en-US" sz="2400"/>
              <a:t>Keep audit records to detect unusual activity and aid with security investigations. </a:t>
            </a:r>
            <a:endParaRPr sz="2400"/>
          </a:p>
          <a:p>
            <a:pPr indent="-369570" lvl="1" marL="914400" rtl="0" algn="l">
              <a:lnSpc>
                <a:spcPct val="90000"/>
              </a:lnSpc>
              <a:spcBef>
                <a:spcPts val="0"/>
              </a:spcBef>
              <a:spcAft>
                <a:spcPts val="0"/>
              </a:spcAft>
              <a:buSzPct val="100000"/>
              <a:buChar char="•"/>
            </a:pPr>
            <a:r>
              <a:rPr lang="en-US" sz="2400"/>
              <a:t>Review and maintain logs in accordance with the Green Pace security policy. </a:t>
            </a:r>
            <a:endParaRPr sz="2400"/>
          </a:p>
        </p:txBody>
      </p:sp>
      <p:pic>
        <p:nvPicPr>
          <p:cNvPr descr="Green Pace logo" id="191" name="Google Shape;191;p8"/>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9504e29505_0_0"/>
          <p:cNvSpPr txBox="1"/>
          <p:nvPr>
            <p:ph type="title"/>
          </p:nvPr>
        </p:nvSpPr>
        <p:spPr>
          <a:xfrm>
            <a:off x="2895600" y="764373"/>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Unit Testing</a:t>
            </a:r>
            <a:endParaRPr/>
          </a:p>
        </p:txBody>
      </p:sp>
      <p:sp>
        <p:nvSpPr>
          <p:cNvPr id="197" name="Google Shape;197;g9504e29505_0_0"/>
          <p:cNvSpPr txBox="1"/>
          <p:nvPr>
            <p:ph idx="1" type="body"/>
          </p:nvPr>
        </p:nvSpPr>
        <p:spPr>
          <a:xfrm>
            <a:off x="685800" y="2194560"/>
            <a:ext cx="10820400" cy="4024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a:t>The following slides demonstrate unit tests for the Integer Overflow vulnerability (STD-002-DAT)</a:t>
            </a:r>
            <a:endParaRPr/>
          </a:p>
          <a:p>
            <a:pPr indent="0" lvl="0" marL="0" rtl="0" algn="l">
              <a:lnSpc>
                <a:spcPct val="90000"/>
              </a:lnSpc>
              <a:spcBef>
                <a:spcPts val="1000"/>
              </a:spcBef>
              <a:spcAft>
                <a:spcPts val="0"/>
              </a:spcAft>
              <a:buSzPts val="1800"/>
              <a:buNone/>
            </a:pPr>
            <a:r>
              <a:t/>
            </a:r>
            <a:endParaRPr/>
          </a:p>
        </p:txBody>
      </p:sp>
      <p:pic>
        <p:nvPicPr>
          <p:cNvPr descr="Green Pace logo" id="198" name="Google Shape;198;g9504e29505_0_0"/>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fbefaed67_0_10"/>
          <p:cNvSpPr txBox="1"/>
          <p:nvPr>
            <p:ph type="title"/>
          </p:nvPr>
        </p:nvSpPr>
        <p:spPr>
          <a:xfrm>
            <a:off x="2895600" y="764373"/>
            <a:ext cx="8610600" cy="12930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800"/>
              <a:buFont typeface="Arial"/>
              <a:buNone/>
            </a:pPr>
            <a:r>
              <a:rPr lang="en-US" sz="2200"/>
              <a:t>Does the program correctly add safe integer values?</a:t>
            </a:r>
            <a:endParaRPr/>
          </a:p>
        </p:txBody>
      </p:sp>
      <p:sp>
        <p:nvSpPr>
          <p:cNvPr id="204" name="Google Shape;204;g3efbefaed67_0_10"/>
          <p:cNvSpPr txBox="1"/>
          <p:nvPr>
            <p:ph idx="1" type="body"/>
          </p:nvPr>
        </p:nvSpPr>
        <p:spPr>
          <a:xfrm>
            <a:off x="685800" y="2194560"/>
            <a:ext cx="10820400" cy="4024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Test Type: Positive</a:t>
            </a:r>
            <a:endParaRPr/>
          </a:p>
          <a:p>
            <a:pPr indent="-342900" lvl="0" marL="457200" rtl="0" algn="l">
              <a:spcBef>
                <a:spcPts val="0"/>
              </a:spcBef>
              <a:spcAft>
                <a:spcPts val="0"/>
              </a:spcAft>
              <a:buSzPts val="1800"/>
              <a:buChar char="•"/>
            </a:pPr>
            <a:r>
              <a:rPr lang="en-US"/>
              <a:t>Expected Result</a:t>
            </a:r>
            <a:endParaRPr/>
          </a:p>
          <a:p>
            <a:pPr indent="-342900" lvl="1" marL="914400" rtl="0" algn="l">
              <a:spcBef>
                <a:spcPts val="0"/>
              </a:spcBef>
              <a:spcAft>
                <a:spcPts val="0"/>
              </a:spcAft>
              <a:buSzPts val="1800"/>
              <a:buChar char="•"/>
            </a:pPr>
            <a:r>
              <a:rPr lang="en-US"/>
              <a:t>Safe integer values are added successfully.</a:t>
            </a:r>
            <a:endParaRPr/>
          </a:p>
          <a:p>
            <a:pPr indent="-342900" lvl="0" marL="457200" rtl="0" algn="l">
              <a:spcBef>
                <a:spcPts val="0"/>
              </a:spcBef>
              <a:spcAft>
                <a:spcPts val="0"/>
              </a:spcAft>
              <a:buSzPts val="1800"/>
              <a:buChar char="•"/>
            </a:pPr>
            <a:r>
              <a:rPr lang="en-US"/>
              <a:t>Actual Result</a:t>
            </a:r>
            <a:endParaRPr/>
          </a:p>
          <a:p>
            <a:pPr indent="-342900" lvl="1" marL="914400" rtl="0" algn="l">
              <a:spcBef>
                <a:spcPts val="0"/>
              </a:spcBef>
              <a:spcAft>
                <a:spcPts val="0"/>
              </a:spcAft>
              <a:buSzPts val="1800"/>
              <a:buChar char="•"/>
            </a:pPr>
            <a:r>
              <a:rPr lang="en-US"/>
              <a:t>Passed</a:t>
            </a:r>
            <a:endParaRPr/>
          </a:p>
        </p:txBody>
      </p:sp>
      <p:pic>
        <p:nvPicPr>
          <p:cNvPr id="205" name="Google Shape;205;g3efbefaed67_0_10"/>
          <p:cNvPicPr preferRelativeResize="0"/>
          <p:nvPr/>
        </p:nvPicPr>
        <p:blipFill rotWithShape="1">
          <a:blip r:embed="rId3">
            <a:alphaModFix/>
          </a:blip>
          <a:srcRect b="46967" l="0" r="0" t="40688"/>
          <a:stretch/>
        </p:blipFill>
        <p:spPr>
          <a:xfrm>
            <a:off x="2172175" y="4421696"/>
            <a:ext cx="7400925" cy="297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efbefaed67_0_15"/>
          <p:cNvSpPr txBox="1"/>
          <p:nvPr>
            <p:ph type="title"/>
          </p:nvPr>
        </p:nvSpPr>
        <p:spPr>
          <a:xfrm>
            <a:off x="2895600" y="764373"/>
            <a:ext cx="8610600" cy="12930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sz="2200"/>
              <a:t>Does the program detect positive integer overflow?</a:t>
            </a:r>
            <a:endParaRPr/>
          </a:p>
          <a:p>
            <a:pPr indent="0" lvl="0" marL="0" rtl="0" algn="r">
              <a:spcBef>
                <a:spcPts val="0"/>
              </a:spcBef>
              <a:spcAft>
                <a:spcPts val="0"/>
              </a:spcAft>
              <a:buNone/>
            </a:pPr>
            <a:r>
              <a:t/>
            </a:r>
            <a:endParaRPr/>
          </a:p>
        </p:txBody>
      </p:sp>
      <p:sp>
        <p:nvSpPr>
          <p:cNvPr id="211" name="Google Shape;211;g3efbefaed67_0_15"/>
          <p:cNvSpPr txBox="1"/>
          <p:nvPr>
            <p:ph idx="1" type="body"/>
          </p:nvPr>
        </p:nvSpPr>
        <p:spPr>
          <a:xfrm>
            <a:off x="685800" y="2194560"/>
            <a:ext cx="10820400" cy="4024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Test Type: Negative</a:t>
            </a:r>
            <a:endParaRPr/>
          </a:p>
          <a:p>
            <a:pPr indent="-342900" lvl="0" marL="457200" rtl="0" algn="l">
              <a:spcBef>
                <a:spcPts val="0"/>
              </a:spcBef>
              <a:spcAft>
                <a:spcPts val="0"/>
              </a:spcAft>
              <a:buSzPts val="1800"/>
              <a:buChar char="•"/>
            </a:pPr>
            <a:r>
              <a:rPr lang="en-US"/>
              <a:t>Expected Result</a:t>
            </a:r>
            <a:endParaRPr/>
          </a:p>
          <a:p>
            <a:pPr indent="-342900" lvl="1" marL="914400" rtl="0" algn="l">
              <a:spcBef>
                <a:spcPts val="0"/>
              </a:spcBef>
              <a:spcAft>
                <a:spcPts val="0"/>
              </a:spcAft>
              <a:buSzPts val="1800"/>
              <a:buChar char="•"/>
            </a:pPr>
            <a:r>
              <a:rPr lang="en-US"/>
              <a:t>Program throws an exception when addition exceeds INT_MAX</a:t>
            </a:r>
            <a:endParaRPr/>
          </a:p>
          <a:p>
            <a:pPr indent="-342900" lvl="0" marL="457200" rtl="0" algn="l">
              <a:spcBef>
                <a:spcPts val="0"/>
              </a:spcBef>
              <a:spcAft>
                <a:spcPts val="0"/>
              </a:spcAft>
              <a:buSzPts val="1800"/>
              <a:buChar char="•"/>
            </a:pPr>
            <a:r>
              <a:rPr lang="en-US"/>
              <a:t>Actual Result</a:t>
            </a:r>
            <a:endParaRPr/>
          </a:p>
          <a:p>
            <a:pPr indent="-342900" lvl="1" marL="914400" rtl="0" algn="l">
              <a:spcBef>
                <a:spcPts val="0"/>
              </a:spcBef>
              <a:spcAft>
                <a:spcPts val="0"/>
              </a:spcAft>
              <a:buSzPts val="1800"/>
              <a:buChar char="•"/>
            </a:pPr>
            <a:r>
              <a:rPr lang="en-US"/>
              <a:t>Passed</a:t>
            </a:r>
            <a:endParaRPr/>
          </a:p>
        </p:txBody>
      </p:sp>
      <p:pic>
        <p:nvPicPr>
          <p:cNvPr id="212" name="Google Shape;212;g3efbefaed67_0_15"/>
          <p:cNvPicPr preferRelativeResize="0"/>
          <p:nvPr/>
        </p:nvPicPr>
        <p:blipFill rotWithShape="1">
          <a:blip r:embed="rId3">
            <a:alphaModFix/>
          </a:blip>
          <a:srcRect b="15952" l="0" r="0" t="73002"/>
          <a:stretch/>
        </p:blipFill>
        <p:spPr>
          <a:xfrm>
            <a:off x="2395538" y="4421698"/>
            <a:ext cx="7400925" cy="266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efbefaed67_0_20"/>
          <p:cNvSpPr txBox="1"/>
          <p:nvPr>
            <p:ph type="title"/>
          </p:nvPr>
        </p:nvSpPr>
        <p:spPr>
          <a:xfrm>
            <a:off x="2895600" y="764373"/>
            <a:ext cx="8610600" cy="12930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sz="2200"/>
              <a:t>Does the program detect negative integer overflow?</a:t>
            </a:r>
            <a:endParaRPr/>
          </a:p>
        </p:txBody>
      </p:sp>
      <p:sp>
        <p:nvSpPr>
          <p:cNvPr id="218" name="Google Shape;218;g3efbefaed67_0_20"/>
          <p:cNvSpPr txBox="1"/>
          <p:nvPr>
            <p:ph idx="1" type="body"/>
          </p:nvPr>
        </p:nvSpPr>
        <p:spPr>
          <a:xfrm>
            <a:off x="685800" y="2194560"/>
            <a:ext cx="10820400" cy="4024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Test Type: Negative</a:t>
            </a:r>
            <a:endParaRPr/>
          </a:p>
          <a:p>
            <a:pPr indent="-342900" lvl="0" marL="457200" rtl="0" algn="l">
              <a:spcBef>
                <a:spcPts val="0"/>
              </a:spcBef>
              <a:spcAft>
                <a:spcPts val="0"/>
              </a:spcAft>
              <a:buSzPts val="1800"/>
              <a:buChar char="•"/>
            </a:pPr>
            <a:r>
              <a:rPr lang="en-US"/>
              <a:t>Expected Result</a:t>
            </a:r>
            <a:endParaRPr/>
          </a:p>
          <a:p>
            <a:pPr indent="-342900" lvl="1" marL="914400" rtl="0" algn="l">
              <a:spcBef>
                <a:spcPts val="0"/>
              </a:spcBef>
              <a:spcAft>
                <a:spcPts val="0"/>
              </a:spcAft>
              <a:buSzPts val="1800"/>
              <a:buChar char="•"/>
            </a:pPr>
            <a:r>
              <a:rPr lang="en-US"/>
              <a:t>Program throws an exception when addition goes below INT_MIN</a:t>
            </a:r>
            <a:endParaRPr/>
          </a:p>
          <a:p>
            <a:pPr indent="-342900" lvl="0" marL="457200" rtl="0" algn="l">
              <a:spcBef>
                <a:spcPts val="0"/>
              </a:spcBef>
              <a:spcAft>
                <a:spcPts val="0"/>
              </a:spcAft>
              <a:buSzPts val="1800"/>
              <a:buChar char="•"/>
            </a:pPr>
            <a:r>
              <a:rPr lang="en-US"/>
              <a:t>Actual Result</a:t>
            </a:r>
            <a:endParaRPr/>
          </a:p>
          <a:p>
            <a:pPr indent="-342900" lvl="1" marL="914400" rtl="0" algn="l">
              <a:spcBef>
                <a:spcPts val="0"/>
              </a:spcBef>
              <a:spcAft>
                <a:spcPts val="0"/>
              </a:spcAft>
              <a:buSzPts val="1800"/>
              <a:buChar char="•"/>
            </a:pPr>
            <a:r>
              <a:rPr lang="en-US"/>
              <a:t>Passed</a:t>
            </a:r>
            <a:endParaRPr/>
          </a:p>
        </p:txBody>
      </p:sp>
      <p:pic>
        <p:nvPicPr>
          <p:cNvPr id="219" name="Google Shape;219;g3efbefaed67_0_20"/>
          <p:cNvPicPr preferRelativeResize="0"/>
          <p:nvPr/>
        </p:nvPicPr>
        <p:blipFill>
          <a:blip r:embed="rId3">
            <a:alphaModFix/>
          </a:blip>
          <a:stretch>
            <a:fillRect/>
          </a:stretch>
        </p:blipFill>
        <p:spPr>
          <a:xfrm>
            <a:off x="2895600" y="4677425"/>
            <a:ext cx="5067300" cy="314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efbefaed67_0_25"/>
          <p:cNvSpPr txBox="1"/>
          <p:nvPr>
            <p:ph type="title"/>
          </p:nvPr>
        </p:nvSpPr>
        <p:spPr>
          <a:xfrm>
            <a:off x="2895600" y="764373"/>
            <a:ext cx="8610600" cy="12930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sz="2200"/>
              <a:t>Does the program handle zero correctly?</a:t>
            </a:r>
            <a:endParaRPr/>
          </a:p>
        </p:txBody>
      </p:sp>
      <p:sp>
        <p:nvSpPr>
          <p:cNvPr id="225" name="Google Shape;225;g3efbefaed67_0_25"/>
          <p:cNvSpPr txBox="1"/>
          <p:nvPr>
            <p:ph idx="1" type="body"/>
          </p:nvPr>
        </p:nvSpPr>
        <p:spPr>
          <a:xfrm>
            <a:off x="685800" y="2194560"/>
            <a:ext cx="10820400" cy="4024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Test Type: Positive</a:t>
            </a:r>
            <a:endParaRPr/>
          </a:p>
          <a:p>
            <a:pPr indent="-342900" lvl="0" marL="457200" rtl="0" algn="l">
              <a:spcBef>
                <a:spcPts val="0"/>
              </a:spcBef>
              <a:spcAft>
                <a:spcPts val="0"/>
              </a:spcAft>
              <a:buSzPts val="1800"/>
              <a:buChar char="•"/>
            </a:pPr>
            <a:r>
              <a:rPr lang="en-US"/>
              <a:t>Expected Result</a:t>
            </a:r>
            <a:endParaRPr/>
          </a:p>
          <a:p>
            <a:pPr indent="-342900" lvl="1" marL="914400" rtl="0" algn="l">
              <a:spcBef>
                <a:spcPts val="0"/>
              </a:spcBef>
              <a:spcAft>
                <a:spcPts val="0"/>
              </a:spcAft>
              <a:buSzPts val="1800"/>
              <a:buChar char="•"/>
            </a:pPr>
            <a:r>
              <a:rPr lang="en-US"/>
              <a:t>Adding zero returns the correct value.</a:t>
            </a:r>
            <a:endParaRPr/>
          </a:p>
          <a:p>
            <a:pPr indent="-342900" lvl="0" marL="457200" rtl="0" algn="l">
              <a:spcBef>
                <a:spcPts val="0"/>
              </a:spcBef>
              <a:spcAft>
                <a:spcPts val="0"/>
              </a:spcAft>
              <a:buSzPts val="1800"/>
              <a:buChar char="•"/>
            </a:pPr>
            <a:r>
              <a:rPr lang="en-US"/>
              <a:t>Actual Result</a:t>
            </a:r>
            <a:endParaRPr/>
          </a:p>
          <a:p>
            <a:pPr indent="-342900" lvl="1" marL="914400" rtl="0" algn="l">
              <a:spcBef>
                <a:spcPts val="0"/>
              </a:spcBef>
              <a:spcAft>
                <a:spcPts val="0"/>
              </a:spcAft>
              <a:buSzPts val="1800"/>
              <a:buChar char="•"/>
            </a:pPr>
            <a:r>
              <a:rPr lang="en-US"/>
              <a:t>Passed</a:t>
            </a:r>
            <a:endParaRPr/>
          </a:p>
        </p:txBody>
      </p:sp>
      <p:pic>
        <p:nvPicPr>
          <p:cNvPr id="226" name="Google Shape;226;g3efbefaed67_0_25"/>
          <p:cNvPicPr preferRelativeResize="0"/>
          <p:nvPr/>
        </p:nvPicPr>
        <p:blipFill>
          <a:blip r:embed="rId3">
            <a:alphaModFix/>
          </a:blip>
          <a:stretch>
            <a:fillRect/>
          </a:stretch>
        </p:blipFill>
        <p:spPr>
          <a:xfrm>
            <a:off x="3002075" y="4834000"/>
            <a:ext cx="4533900" cy="266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AUTOMATION SUMMARY</a:t>
            </a:r>
            <a:endParaRPr/>
          </a:p>
        </p:txBody>
      </p:sp>
      <p:pic>
        <p:nvPicPr>
          <p:cNvPr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id="232" name="Google Shape;232;p9"/>
          <p:cNvPicPr preferRelativeResize="0"/>
          <p:nvPr>
            <p:ph idx="1" type="body"/>
          </p:nvPr>
        </p:nvPicPr>
        <p:blipFill rotWithShape="1">
          <a:blip r:embed="rId3">
            <a:alphaModFix/>
          </a:blip>
          <a:srcRect b="0" l="0" r="0" t="0"/>
          <a:stretch/>
        </p:blipFill>
        <p:spPr>
          <a:xfrm>
            <a:off x="2127250" y="2199481"/>
            <a:ext cx="7937500" cy="4013200"/>
          </a:xfrm>
          <a:prstGeom prst="rect">
            <a:avLst/>
          </a:prstGeom>
          <a:noFill/>
          <a:ln>
            <a:noFill/>
          </a:ln>
        </p:spPr>
      </p:pic>
      <p:pic>
        <p:nvPicPr>
          <p:cNvPr descr="Green Pace logo" id="233" name="Google Shape;233;p9"/>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TOOLS</a:t>
            </a:r>
            <a:endParaRPr/>
          </a:p>
        </p:txBody>
      </p:sp>
      <p:sp>
        <p:nvSpPr>
          <p:cNvPr id="239" name="Google Shape;239;p10"/>
          <p:cNvSpPr txBox="1"/>
          <p:nvPr>
            <p:ph idx="1" type="body"/>
          </p:nvPr>
        </p:nvSpPr>
        <p:spPr>
          <a:xfrm>
            <a:off x="685800" y="2194559"/>
            <a:ext cx="5334000" cy="4024200"/>
          </a:xfrm>
          <a:prstGeom prst="rect">
            <a:avLst/>
          </a:prstGeom>
          <a:noFill/>
          <a:ln>
            <a:noFill/>
          </a:ln>
        </p:spPr>
        <p:txBody>
          <a:bodyPr anchorCtr="0" anchor="t" bIns="45700" lIns="91425" spcFirstLastPara="1" rIns="91425" wrap="square" tIns="45700">
            <a:normAutofit/>
          </a:bodyPr>
          <a:lstStyle/>
          <a:p>
            <a:pPr indent="0" lvl="0" marL="0" rtl="0" algn="l">
              <a:spcBef>
                <a:spcPts val="500"/>
              </a:spcBef>
              <a:spcAft>
                <a:spcPts val="0"/>
              </a:spcAft>
              <a:buNone/>
            </a:pPr>
            <a:r>
              <a:rPr lang="en-US" sz="2000"/>
              <a:t>DevSecOps Pipeline </a:t>
            </a:r>
            <a:endParaRPr sz="2000"/>
          </a:p>
          <a:p>
            <a:pPr indent="-355600" lvl="0" marL="457200" rtl="0" algn="l">
              <a:lnSpc>
                <a:spcPct val="90000"/>
              </a:lnSpc>
              <a:spcBef>
                <a:spcPts val="500"/>
              </a:spcBef>
              <a:spcAft>
                <a:spcPts val="0"/>
              </a:spcAft>
              <a:buSzPts val="2000"/>
              <a:buChar char="-"/>
            </a:pPr>
            <a:r>
              <a:rPr lang="en-US" sz="2000"/>
              <a:t>Plan: Define security requirements and identify risks</a:t>
            </a:r>
            <a:endParaRPr sz="2000"/>
          </a:p>
          <a:p>
            <a:pPr indent="-355600" lvl="0" marL="457200" rtl="0" algn="l">
              <a:lnSpc>
                <a:spcPct val="90000"/>
              </a:lnSpc>
              <a:spcBef>
                <a:spcPts val="0"/>
              </a:spcBef>
              <a:spcAft>
                <a:spcPts val="0"/>
              </a:spcAft>
              <a:buSzPts val="2000"/>
              <a:buChar char="-"/>
            </a:pPr>
            <a:r>
              <a:rPr lang="en-US" sz="2000"/>
              <a:t>Code: Apply secure coding standards</a:t>
            </a:r>
            <a:endParaRPr sz="2000"/>
          </a:p>
          <a:p>
            <a:pPr indent="-355600" lvl="0" marL="457200" rtl="0" algn="l">
              <a:lnSpc>
                <a:spcPct val="90000"/>
              </a:lnSpc>
              <a:spcBef>
                <a:spcPts val="0"/>
              </a:spcBef>
              <a:spcAft>
                <a:spcPts val="0"/>
              </a:spcAft>
              <a:buSzPts val="2000"/>
              <a:buChar char="-"/>
            </a:pPr>
            <a:r>
              <a:rPr lang="en-US" sz="2000"/>
              <a:t>Builld: Compiler and Visual Studio Code Analysis detect errors and warnings </a:t>
            </a:r>
            <a:endParaRPr sz="2000"/>
          </a:p>
          <a:p>
            <a:pPr indent="-355600" lvl="0" marL="457200" rtl="0" algn="l">
              <a:lnSpc>
                <a:spcPct val="90000"/>
              </a:lnSpc>
              <a:spcBef>
                <a:spcPts val="0"/>
              </a:spcBef>
              <a:spcAft>
                <a:spcPts val="0"/>
              </a:spcAft>
              <a:buSzPts val="2000"/>
              <a:buChar char="-"/>
            </a:pPr>
            <a:r>
              <a:rPr lang="en-US" sz="2000"/>
              <a:t>Test: CppCheck, Clang-Tidy, and SonarQube perform automated security scans</a:t>
            </a:r>
            <a:endParaRPr sz="2000"/>
          </a:p>
          <a:p>
            <a:pPr indent="-355600" lvl="0" marL="457200" rtl="0" algn="l">
              <a:lnSpc>
                <a:spcPct val="90000"/>
              </a:lnSpc>
              <a:spcBef>
                <a:spcPts val="0"/>
              </a:spcBef>
              <a:spcAft>
                <a:spcPts val="0"/>
              </a:spcAft>
              <a:buSzPts val="2000"/>
              <a:buChar char="-"/>
            </a:pPr>
            <a:r>
              <a:rPr lang="en-US" sz="2000"/>
              <a:t>Release &amp; Monitor: Deploy only secure builds and continuously monitor for vulnerabilities.</a:t>
            </a:r>
            <a:endParaRPr sz="2000"/>
          </a:p>
        </p:txBody>
      </p:sp>
      <p:pic>
        <p:nvPicPr>
          <p:cNvPr descr="Green Pace logo" id="240" name="Google Shape;240;p10"/>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241" name="Google Shape;241;p10"/>
          <p:cNvSpPr txBox="1"/>
          <p:nvPr>
            <p:ph idx="2" type="body"/>
          </p:nvPr>
        </p:nvSpPr>
        <p:spPr>
          <a:xfrm>
            <a:off x="6172200" y="2194559"/>
            <a:ext cx="5334000" cy="4024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External Tools</a:t>
            </a:r>
            <a:endParaRPr/>
          </a:p>
          <a:p>
            <a:pPr indent="-342900" lvl="0" marL="457200" rtl="0" algn="l">
              <a:spcBef>
                <a:spcPts val="500"/>
              </a:spcBef>
              <a:spcAft>
                <a:spcPts val="0"/>
              </a:spcAft>
              <a:buSzPts val="1800"/>
              <a:buChar char="-"/>
            </a:pPr>
            <a:r>
              <a:rPr lang="en-US" sz="2000"/>
              <a:t>Visual Studio Code Analysis: Detects compiler warnings during development </a:t>
            </a:r>
            <a:endParaRPr sz="2000"/>
          </a:p>
          <a:p>
            <a:pPr indent="-355600" lvl="0" marL="457200" rtl="0" algn="l">
              <a:spcBef>
                <a:spcPts val="0"/>
              </a:spcBef>
              <a:spcAft>
                <a:spcPts val="0"/>
              </a:spcAft>
              <a:buSzPts val="2000"/>
              <a:buChar char="-"/>
            </a:pPr>
            <a:r>
              <a:rPr lang="en-US" sz="2000"/>
              <a:t>CppCheck: Finds coding vulnerabilities through static analysis</a:t>
            </a:r>
            <a:endParaRPr sz="2000"/>
          </a:p>
          <a:p>
            <a:pPr indent="-355600" lvl="0" marL="457200" rtl="0" algn="l">
              <a:spcBef>
                <a:spcPts val="0"/>
              </a:spcBef>
              <a:spcAft>
                <a:spcPts val="0"/>
              </a:spcAft>
              <a:buSzPts val="2000"/>
              <a:buChar char="-"/>
            </a:pPr>
            <a:r>
              <a:rPr lang="en-US" sz="2000"/>
              <a:t>Clang-Tidy: Detects C++ defects and CERT rule violations</a:t>
            </a:r>
            <a:endParaRPr sz="2000"/>
          </a:p>
          <a:p>
            <a:pPr indent="-355600" lvl="0" marL="457200" rtl="0" algn="l">
              <a:spcBef>
                <a:spcPts val="0"/>
              </a:spcBef>
              <a:spcAft>
                <a:spcPts val="0"/>
              </a:spcAft>
              <a:buSzPts val="2000"/>
              <a:buChar char="-"/>
            </a:pPr>
            <a:r>
              <a:rPr lang="en-US" sz="2000"/>
              <a:t>SonarQube: Enforces secure coding standards in the CI/CD pipeline</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RISKS AND BENEFITS</a:t>
            </a:r>
            <a:endParaRPr/>
          </a:p>
        </p:txBody>
      </p:sp>
      <p:sp>
        <p:nvSpPr>
          <p:cNvPr id="247" name="Google Shape;247;p1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000"/>
              <a:buChar char="•"/>
            </a:pPr>
            <a:r>
              <a:rPr lang="en-US" sz="2000"/>
              <a:t>The benefits of acting now are reducing vulnerabilities and remediation costs. The risks include the additional time and </a:t>
            </a:r>
            <a:r>
              <a:rPr lang="en-US" sz="2000"/>
              <a:t>resources</a:t>
            </a:r>
            <a:r>
              <a:rPr lang="en-US" sz="2000"/>
              <a:t> to </a:t>
            </a:r>
            <a:r>
              <a:rPr lang="en-US" sz="2000"/>
              <a:t>implement</a:t>
            </a:r>
            <a:r>
              <a:rPr lang="en-US" sz="2000"/>
              <a:t> security controls.</a:t>
            </a:r>
            <a:endParaRPr sz="2000"/>
          </a:p>
          <a:p>
            <a:pPr indent="-228600" lvl="0" marL="228600" rtl="0" algn="l">
              <a:lnSpc>
                <a:spcPct val="90000"/>
              </a:lnSpc>
              <a:spcBef>
                <a:spcPts val="0"/>
              </a:spcBef>
              <a:spcAft>
                <a:spcPts val="0"/>
              </a:spcAft>
              <a:buSzPts val="2000"/>
              <a:buChar char="•"/>
            </a:pPr>
            <a:r>
              <a:rPr lang="en-US" sz="2000"/>
              <a:t>The </a:t>
            </a:r>
            <a:r>
              <a:rPr lang="en-US" sz="2000"/>
              <a:t>benefit</a:t>
            </a:r>
            <a:r>
              <a:rPr lang="en-US" sz="2000"/>
              <a:t> of waiting is it saves time in the short term. The risks include higher future costs, data loss, and it increases the likeliness of security breaches.</a:t>
            </a:r>
            <a:endParaRPr sz="2000"/>
          </a:p>
          <a:p>
            <a:pPr indent="-228600" lvl="0" marL="228600" rtl="0" algn="l">
              <a:lnSpc>
                <a:spcPct val="90000"/>
              </a:lnSpc>
              <a:spcBef>
                <a:spcPts val="0"/>
              </a:spcBef>
              <a:spcAft>
                <a:spcPts val="0"/>
              </a:spcAft>
              <a:buSzPts val="2000"/>
              <a:buChar char="•"/>
            </a:pPr>
            <a:r>
              <a:rPr lang="en-US" sz="2000"/>
              <a:t>The current strategy lacks continuous monitoring and expanded automated testing, increasing the </a:t>
            </a:r>
            <a:r>
              <a:rPr lang="en-US" sz="2000"/>
              <a:t>risk</a:t>
            </a:r>
            <a:r>
              <a:rPr lang="en-US" sz="2000"/>
              <a:t> that vulnerabilities go undetected.</a:t>
            </a:r>
            <a:endParaRPr sz="2000"/>
          </a:p>
          <a:p>
            <a:pPr indent="-228600" lvl="0" marL="228600" rtl="0" algn="l">
              <a:lnSpc>
                <a:spcPct val="90000"/>
              </a:lnSpc>
              <a:spcBef>
                <a:spcPts val="0"/>
              </a:spcBef>
              <a:spcAft>
                <a:spcPts val="0"/>
              </a:spcAft>
              <a:buSzPts val="2000"/>
              <a:buChar char="•"/>
            </a:pPr>
            <a:r>
              <a:rPr lang="en-US" sz="2000"/>
              <a:t>Steps that should be taken: </a:t>
            </a:r>
            <a:endParaRPr sz="2000"/>
          </a:p>
          <a:p>
            <a:pPr indent="-355600" lvl="1" marL="914400" rtl="0" algn="l">
              <a:lnSpc>
                <a:spcPct val="90000"/>
              </a:lnSpc>
              <a:spcBef>
                <a:spcPts val="0"/>
              </a:spcBef>
              <a:spcAft>
                <a:spcPts val="0"/>
              </a:spcAft>
              <a:buSzPts val="2000"/>
              <a:buChar char="•"/>
            </a:pPr>
            <a:r>
              <a:rPr lang="en-US"/>
              <a:t>Expanding</a:t>
            </a:r>
            <a:r>
              <a:rPr lang="en-US"/>
              <a:t> DevSecOps automation, perform regular security assessments, strengthen code reviews, and continuously update the security policy.</a:t>
            </a:r>
            <a:endParaRPr sz="2000"/>
          </a:p>
        </p:txBody>
      </p:sp>
      <p:pic>
        <p:nvPicPr>
          <p:cNvPr descr="Green Pace logo" id="248" name="Google Shape;248;p11"/>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RECOMMENDATIONS</a:t>
            </a:r>
            <a:endParaRPr/>
          </a:p>
        </p:txBody>
      </p:sp>
      <p:sp>
        <p:nvSpPr>
          <p:cNvPr id="254" name="Google Shape;254;p12"/>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US" sz="1800"/>
              <a:t>Increase automated testing and ongoing security monitoring.</a:t>
            </a:r>
            <a:endParaRPr sz="1800"/>
          </a:p>
          <a:p>
            <a:pPr indent="-342900" lvl="0" marL="457200" rtl="0" algn="l">
              <a:spcBef>
                <a:spcPts val="0"/>
              </a:spcBef>
              <a:spcAft>
                <a:spcPts val="0"/>
              </a:spcAft>
              <a:buSzPts val="1800"/>
              <a:buChar char="•"/>
            </a:pPr>
            <a:r>
              <a:rPr lang="en-US" sz="1800"/>
              <a:t>Increase third-party dependency and vulnerability scanning.</a:t>
            </a:r>
            <a:endParaRPr sz="1800"/>
          </a:p>
          <a:p>
            <a:pPr indent="-342900" lvl="0" marL="457200" rtl="0" algn="l">
              <a:spcBef>
                <a:spcPts val="0"/>
              </a:spcBef>
              <a:spcAft>
                <a:spcPts val="0"/>
              </a:spcAft>
              <a:buSzPts val="1800"/>
              <a:buChar char="•"/>
            </a:pPr>
            <a:r>
              <a:rPr lang="en-US" sz="1800"/>
              <a:t>Implement Zero Trust and conduct security training regularly.</a:t>
            </a:r>
            <a:endParaRPr sz="1800"/>
          </a:p>
          <a:p>
            <a:pPr indent="-342900" lvl="0" marL="457200" rtl="0" algn="l">
              <a:spcBef>
                <a:spcPts val="0"/>
              </a:spcBef>
              <a:spcAft>
                <a:spcPts val="0"/>
              </a:spcAft>
              <a:buSzPts val="1800"/>
              <a:buChar char="•"/>
            </a:pPr>
            <a:r>
              <a:rPr lang="en-US" sz="1800"/>
              <a:t>Real-World Example:  The 2021 LinkedIn data leak showed the significance of closely monitoring API security and improving it to prevent the effects of data releases on a wide scale.</a:t>
            </a:r>
            <a:endParaRPr sz="1800"/>
          </a:p>
          <a:p>
            <a:pPr indent="0" lvl="0" marL="0" rtl="0" algn="l">
              <a:lnSpc>
                <a:spcPct val="90000"/>
              </a:lnSpc>
              <a:spcBef>
                <a:spcPts val="0"/>
              </a:spcBef>
              <a:spcAft>
                <a:spcPts val="0"/>
              </a:spcAft>
              <a:buNone/>
            </a:pPr>
            <a:r>
              <a:t/>
            </a:r>
            <a:endParaRPr sz="1800"/>
          </a:p>
        </p:txBody>
      </p:sp>
      <p:pic>
        <p:nvPicPr>
          <p:cNvPr descr="Green Pace logo" id="255" name="Google Shape;255;p12"/>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CONCLUSIONS</a:t>
            </a:r>
            <a:endParaRPr/>
          </a:p>
        </p:txBody>
      </p:sp>
      <p:sp>
        <p:nvSpPr>
          <p:cNvPr id="261" name="Google Shape;261;p13"/>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Automate DevSecOps continuously across the SDLC. </a:t>
            </a:r>
            <a:endParaRPr/>
          </a:p>
          <a:p>
            <a:pPr indent="-342900" lvl="0" marL="457200" rtl="0" algn="l">
              <a:lnSpc>
                <a:spcPct val="90000"/>
              </a:lnSpc>
              <a:spcBef>
                <a:spcPts val="0"/>
              </a:spcBef>
              <a:spcAft>
                <a:spcPts val="0"/>
              </a:spcAft>
              <a:buSzPts val="1800"/>
              <a:buChar char="•"/>
            </a:pPr>
            <a:r>
              <a:rPr lang="en-US"/>
              <a:t>Continue to follow SEI CERT C/C++ safe coding standards. </a:t>
            </a:r>
            <a:endParaRPr/>
          </a:p>
          <a:p>
            <a:pPr indent="-342900" lvl="0" marL="457200" rtl="0" algn="l">
              <a:lnSpc>
                <a:spcPct val="90000"/>
              </a:lnSpc>
              <a:spcBef>
                <a:spcPts val="0"/>
              </a:spcBef>
              <a:spcAft>
                <a:spcPts val="0"/>
              </a:spcAft>
              <a:buSzPts val="1800"/>
              <a:buChar char="•"/>
            </a:pPr>
            <a:r>
              <a:rPr lang="en-US"/>
              <a:t>Perform frequent penetration testing and periodic security assessments. </a:t>
            </a:r>
            <a:endParaRPr/>
          </a:p>
          <a:p>
            <a:pPr indent="-342900" lvl="0" marL="457200" rtl="0" algn="l">
              <a:lnSpc>
                <a:spcPct val="90000"/>
              </a:lnSpc>
              <a:spcBef>
                <a:spcPts val="0"/>
              </a:spcBef>
              <a:spcAft>
                <a:spcPts val="0"/>
              </a:spcAft>
              <a:buSzPts val="1800"/>
              <a:buChar char="•"/>
            </a:pPr>
            <a:r>
              <a:rPr lang="en-US"/>
              <a:t>Regularly update security policies to reflect emerging threats and weaknesses. </a:t>
            </a:r>
            <a:endParaRPr/>
          </a:p>
        </p:txBody>
      </p:sp>
      <p:pic>
        <p:nvPicPr>
          <p:cNvPr descr="Green Pace logo" id="262" name="Google Shape;262;p13"/>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REFERENCES</a:t>
            </a:r>
            <a:endParaRPr/>
          </a:p>
        </p:txBody>
      </p:sp>
      <p:sp>
        <p:nvSpPr>
          <p:cNvPr id="268" name="Google Shape;268;p14"/>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12700" lvl="0" marL="3556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Patten, D. (2024, December 10). </a:t>
            </a:r>
            <a:r>
              <a:rPr i="1" lang="en-US" sz="1100">
                <a:latin typeface="Arial"/>
                <a:ea typeface="Arial"/>
                <a:cs typeface="Arial"/>
                <a:sym typeface="Arial"/>
              </a:rPr>
              <a:t>DevSecOps: Integrating security into DevOps | by Dave Patten | medium</a:t>
            </a:r>
            <a:r>
              <a:rPr lang="en-US" sz="1100">
                <a:latin typeface="Arial"/>
                <a:ea typeface="Arial"/>
                <a:cs typeface="Arial"/>
                <a:sym typeface="Arial"/>
              </a:rPr>
              <a:t>. Medium. https://medium.com/@dave-patten/devsecops-integrating-security-into-devops-1199bcd72072</a:t>
            </a:r>
            <a:endParaRPr sz="1100">
              <a:latin typeface="Arial"/>
              <a:ea typeface="Arial"/>
              <a:cs typeface="Arial"/>
              <a:sym typeface="Arial"/>
            </a:endParaRPr>
          </a:p>
          <a:p>
            <a:pPr indent="-12700" lvl="0" marL="355600" rtl="0" algn="l">
              <a:lnSpc>
                <a:spcPct val="115000"/>
              </a:lnSpc>
              <a:spcBef>
                <a:spcPts val="1200"/>
              </a:spcBef>
              <a:spcAft>
                <a:spcPts val="0"/>
              </a:spcAft>
              <a:buNone/>
            </a:pPr>
            <a:r>
              <a:rPr lang="en-US" sz="1100">
                <a:latin typeface="Arial"/>
                <a:ea typeface="Arial"/>
                <a:cs typeface="Arial"/>
                <a:sym typeface="Arial"/>
              </a:rPr>
              <a:t>Leyden, J., Swinhoe, D., &amp; Hill , M. (2025, July 12). </a:t>
            </a:r>
            <a:r>
              <a:rPr i="1" lang="en-US" sz="1100">
                <a:latin typeface="Arial"/>
                <a:ea typeface="Arial"/>
                <a:cs typeface="Arial"/>
                <a:sym typeface="Arial"/>
              </a:rPr>
              <a:t>The 20 biggest data breaches of the 21st Century | CSO online</a:t>
            </a:r>
            <a:r>
              <a:rPr lang="en-US" sz="1100">
                <a:latin typeface="Arial"/>
                <a:ea typeface="Arial"/>
                <a:cs typeface="Arial"/>
                <a:sym typeface="Arial"/>
              </a:rPr>
              <a:t>. CSOOnline. https://www.csoonline.com/article/534628/the-biggest-data-breaches-of-the-21st-century.html</a:t>
            </a:r>
            <a:endParaRPr sz="1100">
              <a:latin typeface="Arial"/>
              <a:ea typeface="Arial"/>
              <a:cs typeface="Arial"/>
              <a:sym typeface="Arial"/>
            </a:endParaRPr>
          </a:p>
          <a:p>
            <a:pPr indent="-12700" lvl="0" marL="355600" rtl="0" algn="l">
              <a:lnSpc>
                <a:spcPct val="115000"/>
              </a:lnSpc>
              <a:spcBef>
                <a:spcPts val="1200"/>
              </a:spcBef>
              <a:spcAft>
                <a:spcPts val="1200"/>
              </a:spcAft>
              <a:buNone/>
            </a:pPr>
            <a:r>
              <a:t/>
            </a:r>
            <a:endParaRPr/>
          </a:p>
        </p:txBody>
      </p:sp>
      <p:pic>
        <p:nvPicPr>
          <p:cNvPr descr="Green Pace logo" id="269" name="Google Shape;269;p14"/>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2020-08-19T17:59:24Z</dcterms:created>
  <dc:creator>Kathy Shields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